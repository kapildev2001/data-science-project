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4"/>
  </p:sldMasterIdLst>
  <p:notesMasterIdLst>
    <p:notesMasterId r:id="rId20"/>
  </p:notesMasterIdLst>
  <p:handoutMasterIdLst>
    <p:handoutMasterId r:id="rId21"/>
  </p:handoutMasterIdLst>
  <p:sldIdLst>
    <p:sldId id="256" r:id="rId5"/>
    <p:sldId id="257" r:id="rId6"/>
    <p:sldId id="289" r:id="rId7"/>
    <p:sldId id="273" r:id="rId8"/>
    <p:sldId id="290" r:id="rId9"/>
    <p:sldId id="304" r:id="rId10"/>
    <p:sldId id="296" r:id="rId11"/>
    <p:sldId id="302" r:id="rId12"/>
    <p:sldId id="303" r:id="rId13"/>
    <p:sldId id="291" r:id="rId14"/>
    <p:sldId id="300" r:id="rId15"/>
    <p:sldId id="295" r:id="rId16"/>
    <p:sldId id="308" r:id="rId17"/>
    <p:sldId id="283" r:id="rId18"/>
    <p:sldId id="2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F0BDDD-07A0-11C8-5BA0-D22B8191C828}" name="Lopamudra Bera" initials="LB" userId="S::Lopamudra.Bera@in.niit.com::4afe22d6-82bb-4c55-80e2-493fedc832a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91" d="100"/>
          <a:sy n="91" d="100"/>
        </p:scale>
        <p:origin x="27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3F2F9D-C5B4-59CE-BE7C-D3B0795C21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FD328B-FFB5-7B38-4E9B-4E971252D1C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DCDCF66-1D0B-47AE-ABCF-DDBF8CB6C96E}" type="datetimeFigureOut">
              <a:rPr lang="en-US" smtClean="0"/>
              <a:t>5/19/2026</a:t>
            </a:fld>
            <a:endParaRPr lang="en-US"/>
          </a:p>
        </p:txBody>
      </p:sp>
      <p:sp>
        <p:nvSpPr>
          <p:cNvPr id="4" name="Footer Placeholder 3">
            <a:extLst>
              <a:ext uri="{FF2B5EF4-FFF2-40B4-BE49-F238E27FC236}">
                <a16:creationId xmlns:a16="http://schemas.microsoft.com/office/drawing/2014/main" id="{58844BF3-FA17-CE84-7068-A28609D3D9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D619B66-9180-AA1C-1A31-65E21D5656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4CAD7F-B6EE-4992-BA11-6288B08FAF2E}" type="slidenum">
              <a:rPr lang="en-US" smtClean="0"/>
              <a:t>‹#›</a:t>
            </a:fld>
            <a:endParaRPr lang="en-US"/>
          </a:p>
        </p:txBody>
      </p:sp>
    </p:spTree>
    <p:extLst>
      <p:ext uri="{BB962C8B-B14F-4D97-AF65-F5344CB8AC3E}">
        <p14:creationId xmlns:p14="http://schemas.microsoft.com/office/powerpoint/2010/main" val="312878977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493026-B3CC-4742-8494-9A5DC4319FF0}" type="datetimeFigureOut">
              <a:rPr lang="en-US" smtClean="0"/>
              <a:t>5/19/2026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EFF1AC-97C7-4A0C-B568-280BB13F5F19}" type="slidenum">
              <a:rPr lang="en-US" smtClean="0"/>
              <a:t>‹#›</a:t>
            </a:fld>
            <a:endParaRPr lang="en-US"/>
          </a:p>
        </p:txBody>
      </p:sp>
    </p:spTree>
    <p:extLst>
      <p:ext uri="{BB962C8B-B14F-4D97-AF65-F5344CB8AC3E}">
        <p14:creationId xmlns:p14="http://schemas.microsoft.com/office/powerpoint/2010/main" val="306977218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EFF1AC-97C7-4A0C-B568-280BB13F5F19}" type="slidenum">
              <a:rPr lang="en-US" smtClean="0"/>
              <a:t>1</a:t>
            </a:fld>
            <a:endParaRPr lang="en-US"/>
          </a:p>
        </p:txBody>
      </p:sp>
    </p:spTree>
    <p:extLst>
      <p:ext uri="{BB962C8B-B14F-4D97-AF65-F5344CB8AC3E}">
        <p14:creationId xmlns:p14="http://schemas.microsoft.com/office/powerpoint/2010/main" val="24638183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3ADAC-133D-B81B-7027-0FC9EFAC69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D0746F4-F72D-5ED0-553D-F2F7CCE236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95C1E19-8AE0-1F57-5D39-5EED45279A85}"/>
              </a:ext>
            </a:extLst>
          </p:cNvPr>
          <p:cNvSpPr>
            <a:spLocks noGrp="1"/>
          </p:cNvSpPr>
          <p:nvPr>
            <p:ph type="dt" sz="half" idx="10"/>
          </p:nvPr>
        </p:nvSpPr>
        <p:spPr/>
        <p:txBody>
          <a:bodyPr/>
          <a:lstStyle/>
          <a:p>
            <a:fld id="{59D61AA8-BC96-460B-98CA-929CDACCFA1D}" type="datetime1">
              <a:rPr lang="en-US" smtClean="0"/>
              <a:t>5/19/2026</a:t>
            </a:fld>
            <a:endParaRPr lang="en-US" dirty="0"/>
          </a:p>
        </p:txBody>
      </p:sp>
      <p:sp>
        <p:nvSpPr>
          <p:cNvPr id="5" name="Footer Placeholder 4">
            <a:extLst>
              <a:ext uri="{FF2B5EF4-FFF2-40B4-BE49-F238E27FC236}">
                <a16:creationId xmlns:a16="http://schemas.microsoft.com/office/drawing/2014/main" id="{DAD79771-F823-9435-7714-7878FD0A14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834B48-BC56-60E1-214B-CE4585CB93C2}"/>
              </a:ext>
            </a:extLst>
          </p:cNvPr>
          <p:cNvSpPr>
            <a:spLocks noGrp="1"/>
          </p:cNvSpPr>
          <p:nvPr>
            <p:ph type="sldNum" sz="quarter" idx="12"/>
          </p:nvPr>
        </p:nvSpPr>
        <p:spPr/>
        <p:txBody>
          <a:bodyPr/>
          <a:lstStyle/>
          <a:p>
            <a:fld id="{B4A918BC-4D43-4B42-B3C0-E7EBE25E6AF0}" type="slidenum">
              <a:rPr lang="en-US" smtClean="0"/>
              <a:t>‹#›</a:t>
            </a:fld>
            <a:endParaRPr lang="en-US" dirty="0"/>
          </a:p>
        </p:txBody>
      </p:sp>
    </p:spTree>
    <p:extLst>
      <p:ext uri="{BB962C8B-B14F-4D97-AF65-F5344CB8AC3E}">
        <p14:creationId xmlns:p14="http://schemas.microsoft.com/office/powerpoint/2010/main" val="3761806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D73C0-9E8B-DCDD-D129-E8D3E61050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734648-4357-FE3A-774D-ABE061CADA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ACFEF6-2A82-D532-69EA-2C124FB60078}"/>
              </a:ext>
            </a:extLst>
          </p:cNvPr>
          <p:cNvSpPr>
            <a:spLocks noGrp="1"/>
          </p:cNvSpPr>
          <p:nvPr>
            <p:ph type="dt" sz="half" idx="10"/>
          </p:nvPr>
        </p:nvSpPr>
        <p:spPr/>
        <p:txBody>
          <a:bodyPr/>
          <a:lstStyle/>
          <a:p>
            <a:fld id="{19FAAD18-1693-401A-81A4-055F194738CD}" type="datetime1">
              <a:rPr lang="en-US" smtClean="0"/>
              <a:t>5/19/2026</a:t>
            </a:fld>
            <a:endParaRPr lang="en-US"/>
          </a:p>
        </p:txBody>
      </p:sp>
      <p:sp>
        <p:nvSpPr>
          <p:cNvPr id="5" name="Footer Placeholder 4">
            <a:extLst>
              <a:ext uri="{FF2B5EF4-FFF2-40B4-BE49-F238E27FC236}">
                <a16:creationId xmlns:a16="http://schemas.microsoft.com/office/drawing/2014/main" id="{D34456DD-2D0F-18A5-E0E5-3D21E7287E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D3F4EC-482A-5E6B-F4C6-3CDD0C377DCC}"/>
              </a:ext>
            </a:extLst>
          </p:cNvPr>
          <p:cNvSpPr>
            <a:spLocks noGrp="1"/>
          </p:cNvSpPr>
          <p:nvPr>
            <p:ph type="sldNum" sz="quarter" idx="12"/>
          </p:nvPr>
        </p:nvSpPr>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365524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EF9D6-D63A-A8A9-056C-746D24DD4D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15521D1-20A0-B890-261D-A877BC18FF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51DCC9-FFB7-83A7-0B4E-52594A4F704A}"/>
              </a:ext>
            </a:extLst>
          </p:cNvPr>
          <p:cNvSpPr>
            <a:spLocks noGrp="1"/>
          </p:cNvSpPr>
          <p:nvPr>
            <p:ph type="dt" sz="half" idx="10"/>
          </p:nvPr>
        </p:nvSpPr>
        <p:spPr/>
        <p:txBody>
          <a:bodyPr/>
          <a:lstStyle/>
          <a:p>
            <a:fld id="{C152D761-1931-49C4-BDC5-6626B2B9DA87}" type="datetime1">
              <a:rPr lang="en-US" smtClean="0"/>
              <a:t>5/19/2026</a:t>
            </a:fld>
            <a:endParaRPr lang="en-US" dirty="0"/>
          </a:p>
        </p:txBody>
      </p:sp>
      <p:sp>
        <p:nvSpPr>
          <p:cNvPr id="5" name="Footer Placeholder 4">
            <a:extLst>
              <a:ext uri="{FF2B5EF4-FFF2-40B4-BE49-F238E27FC236}">
                <a16:creationId xmlns:a16="http://schemas.microsoft.com/office/drawing/2014/main" id="{4B3AD9C2-E68A-7E58-A89C-203484EDA7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3F2A7BF-B438-E560-D963-EB9AB46EB70B}"/>
              </a:ext>
            </a:extLst>
          </p:cNvPr>
          <p:cNvSpPr>
            <a:spLocks noGrp="1"/>
          </p:cNvSpPr>
          <p:nvPr>
            <p:ph type="sldNum" sz="quarter" idx="12"/>
          </p:nvPr>
        </p:nvSpPr>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3767532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1EEDD-E152-ED08-8326-7D511762C4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30DE3D-C836-D1A5-D626-46767F7E87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45BEDA1-A44B-E394-7C5A-9D07EFD4A8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EB81E0-9E14-6639-6240-A04E54BB6744}"/>
              </a:ext>
            </a:extLst>
          </p:cNvPr>
          <p:cNvSpPr>
            <a:spLocks noGrp="1"/>
          </p:cNvSpPr>
          <p:nvPr>
            <p:ph type="dt" sz="half" idx="10"/>
          </p:nvPr>
        </p:nvSpPr>
        <p:spPr/>
        <p:txBody>
          <a:bodyPr/>
          <a:lstStyle/>
          <a:p>
            <a:fld id="{402274EA-C550-4003-A520-69BF3CBE8C34}" type="datetime1">
              <a:rPr lang="en-US" smtClean="0"/>
              <a:t>5/19/2026</a:t>
            </a:fld>
            <a:endParaRPr lang="en-US" dirty="0"/>
          </a:p>
        </p:txBody>
      </p:sp>
      <p:sp>
        <p:nvSpPr>
          <p:cNvPr id="6" name="Footer Placeholder 5">
            <a:extLst>
              <a:ext uri="{FF2B5EF4-FFF2-40B4-BE49-F238E27FC236}">
                <a16:creationId xmlns:a16="http://schemas.microsoft.com/office/drawing/2014/main" id="{98FC5D88-6760-DAA0-BA57-64911B1FD58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1EE5DD5-E624-5C5A-7CF2-88DDE907D8C6}"/>
              </a:ext>
            </a:extLst>
          </p:cNvPr>
          <p:cNvSpPr>
            <a:spLocks noGrp="1"/>
          </p:cNvSpPr>
          <p:nvPr>
            <p:ph type="sldNum" sz="quarter" idx="12"/>
          </p:nvPr>
        </p:nvSpPr>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1116929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C6B0D-2384-F026-2FCE-103601955FC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4A232D-95F9-7731-52A8-A1958CAD98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7D9802-5030-7DB8-ED15-A36E4E1FA9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0EDF069-00B2-3986-7C68-8BA2B1B9F5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C125F3-3CDC-C6B6-676F-CACCCB64FB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F71ED5-EE73-3EC1-50E0-053B2E3CC33D}"/>
              </a:ext>
            </a:extLst>
          </p:cNvPr>
          <p:cNvSpPr>
            <a:spLocks noGrp="1"/>
          </p:cNvSpPr>
          <p:nvPr>
            <p:ph type="dt" sz="half" idx="10"/>
          </p:nvPr>
        </p:nvSpPr>
        <p:spPr/>
        <p:txBody>
          <a:bodyPr/>
          <a:lstStyle/>
          <a:p>
            <a:fld id="{4650D6CD-B059-4215-93DA-98D6F18F4A08}" type="datetime1">
              <a:rPr lang="en-US" smtClean="0"/>
              <a:t>5/19/2026</a:t>
            </a:fld>
            <a:endParaRPr lang="en-US" dirty="0"/>
          </a:p>
        </p:txBody>
      </p:sp>
      <p:sp>
        <p:nvSpPr>
          <p:cNvPr id="8" name="Footer Placeholder 7">
            <a:extLst>
              <a:ext uri="{FF2B5EF4-FFF2-40B4-BE49-F238E27FC236}">
                <a16:creationId xmlns:a16="http://schemas.microsoft.com/office/drawing/2014/main" id="{FE2DE0E4-F1AA-9E24-BE67-6B629112DF4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91F37F5-27C8-22A6-193A-643DC1FA94C8}"/>
              </a:ext>
            </a:extLst>
          </p:cNvPr>
          <p:cNvSpPr>
            <a:spLocks noGrp="1"/>
          </p:cNvSpPr>
          <p:nvPr>
            <p:ph type="sldNum" sz="quarter" idx="12"/>
          </p:nvPr>
        </p:nvSpPr>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2318650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1FFAC-5A97-4B5B-D6BA-58DFC30646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465DF82-D217-FBC0-8D54-FD0F04A40420}"/>
              </a:ext>
            </a:extLst>
          </p:cNvPr>
          <p:cNvSpPr>
            <a:spLocks noGrp="1"/>
          </p:cNvSpPr>
          <p:nvPr>
            <p:ph type="dt" sz="half" idx="10"/>
          </p:nvPr>
        </p:nvSpPr>
        <p:spPr/>
        <p:txBody>
          <a:bodyPr/>
          <a:lstStyle/>
          <a:p>
            <a:fld id="{4E78FD73-6282-4BB5-ACA1-E89070650E58}" type="datetime1">
              <a:rPr lang="en-US" smtClean="0"/>
              <a:t>5/19/2026</a:t>
            </a:fld>
            <a:endParaRPr lang="en-US"/>
          </a:p>
        </p:txBody>
      </p:sp>
      <p:sp>
        <p:nvSpPr>
          <p:cNvPr id="4" name="Footer Placeholder 3">
            <a:extLst>
              <a:ext uri="{FF2B5EF4-FFF2-40B4-BE49-F238E27FC236}">
                <a16:creationId xmlns:a16="http://schemas.microsoft.com/office/drawing/2014/main" id="{B8750F13-88B6-4F61-B572-940E916316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526306-D7D1-3800-6CA6-292BE81FF1A6}"/>
              </a:ext>
            </a:extLst>
          </p:cNvPr>
          <p:cNvSpPr>
            <a:spLocks noGrp="1"/>
          </p:cNvSpPr>
          <p:nvPr>
            <p:ph type="sldNum" sz="quarter" idx="12"/>
          </p:nvPr>
        </p:nvSpPr>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477093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A706DD-7AF4-7831-E293-F915DE0CFBD9}"/>
              </a:ext>
            </a:extLst>
          </p:cNvPr>
          <p:cNvSpPr>
            <a:spLocks noGrp="1"/>
          </p:cNvSpPr>
          <p:nvPr>
            <p:ph type="dt" sz="half" idx="10"/>
          </p:nvPr>
        </p:nvSpPr>
        <p:spPr/>
        <p:txBody>
          <a:bodyPr/>
          <a:lstStyle/>
          <a:p>
            <a:fld id="{1F88651B-96D9-46CE-B092-0B3A94695359}" type="datetime1">
              <a:rPr lang="en-US" smtClean="0"/>
              <a:t>5/19/2026</a:t>
            </a:fld>
            <a:endParaRPr lang="en-US"/>
          </a:p>
        </p:txBody>
      </p:sp>
      <p:sp>
        <p:nvSpPr>
          <p:cNvPr id="3" name="Footer Placeholder 2">
            <a:extLst>
              <a:ext uri="{FF2B5EF4-FFF2-40B4-BE49-F238E27FC236}">
                <a16:creationId xmlns:a16="http://schemas.microsoft.com/office/drawing/2014/main" id="{CAC9B536-630B-98C8-D337-EE15F4D98B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37C952A-5E1D-F48E-B73E-18D7166C5087}"/>
              </a:ext>
            </a:extLst>
          </p:cNvPr>
          <p:cNvSpPr>
            <a:spLocks noGrp="1"/>
          </p:cNvSpPr>
          <p:nvPr>
            <p:ph type="sldNum" sz="quarter" idx="12"/>
          </p:nvPr>
        </p:nvSpPr>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2318199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57DBD-3FA8-9996-DA67-8B70EEA209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D69AACD-0AE3-0C1F-C724-FC2826D817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CAF83F4-5E41-5F32-FA35-B0C12F5D93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6AE4A3-65AC-2982-D866-686038C3C147}"/>
              </a:ext>
            </a:extLst>
          </p:cNvPr>
          <p:cNvSpPr>
            <a:spLocks noGrp="1"/>
          </p:cNvSpPr>
          <p:nvPr>
            <p:ph type="dt" sz="half" idx="10"/>
          </p:nvPr>
        </p:nvSpPr>
        <p:spPr/>
        <p:txBody>
          <a:bodyPr/>
          <a:lstStyle/>
          <a:p>
            <a:fld id="{B90B72C0-422F-4730-85D0-9BEA9AD9185E}" type="datetime1">
              <a:rPr lang="en-US" smtClean="0"/>
              <a:t>5/19/2026</a:t>
            </a:fld>
            <a:endParaRPr lang="en-US" dirty="0"/>
          </a:p>
        </p:txBody>
      </p:sp>
      <p:sp>
        <p:nvSpPr>
          <p:cNvPr id="6" name="Footer Placeholder 5">
            <a:extLst>
              <a:ext uri="{FF2B5EF4-FFF2-40B4-BE49-F238E27FC236}">
                <a16:creationId xmlns:a16="http://schemas.microsoft.com/office/drawing/2014/main" id="{C85AF354-CED8-7860-11E5-17AC135CEFB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8CB1244-FF1A-C3F3-4837-F7A700C4CC01}"/>
              </a:ext>
            </a:extLst>
          </p:cNvPr>
          <p:cNvSpPr>
            <a:spLocks noGrp="1"/>
          </p:cNvSpPr>
          <p:nvPr>
            <p:ph type="sldNum" sz="quarter" idx="12"/>
          </p:nvPr>
        </p:nvSpPr>
        <p:spPr/>
        <p:txBody>
          <a:bodyPr/>
          <a:lstStyle/>
          <a:p>
            <a:fld id="{B4A918BC-4D43-4B42-B3C0-E7EBE25E6AF0}" type="slidenum">
              <a:rPr lang="en-US" smtClean="0"/>
              <a:t>‹#›</a:t>
            </a:fld>
            <a:endParaRPr lang="en-US" dirty="0"/>
          </a:p>
        </p:txBody>
      </p:sp>
    </p:spTree>
    <p:extLst>
      <p:ext uri="{BB962C8B-B14F-4D97-AF65-F5344CB8AC3E}">
        <p14:creationId xmlns:p14="http://schemas.microsoft.com/office/powerpoint/2010/main" val="182325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CBC79-0556-A4C3-DCCA-27CBB5D8E8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EFCEEEE-8DC5-C1FA-EFC7-724185D42D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93DD68C-C135-14B0-EE5F-D4B505CEC4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E01111-7491-B147-FE1E-72A8E244110D}"/>
              </a:ext>
            </a:extLst>
          </p:cNvPr>
          <p:cNvSpPr>
            <a:spLocks noGrp="1"/>
          </p:cNvSpPr>
          <p:nvPr>
            <p:ph type="dt" sz="half" idx="10"/>
          </p:nvPr>
        </p:nvSpPr>
        <p:spPr/>
        <p:txBody>
          <a:bodyPr/>
          <a:lstStyle/>
          <a:p>
            <a:fld id="{89093573-61C9-43B5-A7BB-3CEFFCD2CC0A}" type="datetime1">
              <a:rPr lang="en-US" smtClean="0"/>
              <a:t>5/19/2026</a:t>
            </a:fld>
            <a:endParaRPr lang="en-US" dirty="0"/>
          </a:p>
        </p:txBody>
      </p:sp>
      <p:sp>
        <p:nvSpPr>
          <p:cNvPr id="6" name="Footer Placeholder 5">
            <a:extLst>
              <a:ext uri="{FF2B5EF4-FFF2-40B4-BE49-F238E27FC236}">
                <a16:creationId xmlns:a16="http://schemas.microsoft.com/office/drawing/2014/main" id="{1DE18087-71B4-75D6-4F25-E003644B9D4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4E041C-54B2-E98D-2980-C5A5BE629E6C}"/>
              </a:ext>
            </a:extLst>
          </p:cNvPr>
          <p:cNvSpPr>
            <a:spLocks noGrp="1"/>
          </p:cNvSpPr>
          <p:nvPr>
            <p:ph type="sldNum" sz="quarter" idx="12"/>
          </p:nvPr>
        </p:nvSpPr>
        <p:spPr/>
        <p:txBody>
          <a:bodyPr/>
          <a:lstStyle/>
          <a:p>
            <a:fld id="{B4A918BC-4D43-4B42-B3C0-E7EBE25E6AF0}" type="slidenum">
              <a:rPr lang="en-US" smtClean="0"/>
              <a:t>‹#›</a:t>
            </a:fld>
            <a:endParaRPr lang="en-US" dirty="0"/>
          </a:p>
        </p:txBody>
      </p:sp>
    </p:spTree>
    <p:extLst>
      <p:ext uri="{BB962C8B-B14F-4D97-AF65-F5344CB8AC3E}">
        <p14:creationId xmlns:p14="http://schemas.microsoft.com/office/powerpoint/2010/main" val="2099243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40318-A6BE-CB27-2C5F-E6DC1794F49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8E1271-8A5A-0C9A-A68F-4115B630A7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BB41DE-9CEE-F8D9-7D75-17ACF4B302A2}"/>
              </a:ext>
            </a:extLst>
          </p:cNvPr>
          <p:cNvSpPr>
            <a:spLocks noGrp="1"/>
          </p:cNvSpPr>
          <p:nvPr>
            <p:ph type="dt" sz="half" idx="10"/>
          </p:nvPr>
        </p:nvSpPr>
        <p:spPr/>
        <p:txBody>
          <a:bodyPr/>
          <a:lstStyle/>
          <a:p>
            <a:fld id="{D5E8AFAD-CD1F-4EE2-B830-49E99933C10D}" type="datetime1">
              <a:rPr lang="en-US" smtClean="0"/>
              <a:t>5/19/2026</a:t>
            </a:fld>
            <a:endParaRPr lang="en-US"/>
          </a:p>
        </p:txBody>
      </p:sp>
      <p:sp>
        <p:nvSpPr>
          <p:cNvPr id="5" name="Footer Placeholder 4">
            <a:extLst>
              <a:ext uri="{FF2B5EF4-FFF2-40B4-BE49-F238E27FC236}">
                <a16:creationId xmlns:a16="http://schemas.microsoft.com/office/drawing/2014/main" id="{DF428FA6-F528-65D7-E219-6756E18800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CAEC64-D001-7589-5B12-423C698CADEB}"/>
              </a:ext>
            </a:extLst>
          </p:cNvPr>
          <p:cNvSpPr>
            <a:spLocks noGrp="1"/>
          </p:cNvSpPr>
          <p:nvPr>
            <p:ph type="sldNum" sz="quarter" idx="12"/>
          </p:nvPr>
        </p:nvSpPr>
        <p:spPr/>
        <p:txBody>
          <a:bodyPr/>
          <a:lstStyle/>
          <a:p>
            <a:fld id="{B4A918BC-4D43-4B42-B3C0-E7EBE25E6AF0}" type="slidenum">
              <a:rPr lang="en-US" smtClean="0"/>
              <a:t>‹#›</a:t>
            </a:fld>
            <a:endParaRPr lang="en-US"/>
          </a:p>
        </p:txBody>
      </p:sp>
    </p:spTree>
    <p:extLst>
      <p:ext uri="{BB962C8B-B14F-4D97-AF65-F5344CB8AC3E}">
        <p14:creationId xmlns:p14="http://schemas.microsoft.com/office/powerpoint/2010/main" val="283231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540ACE-E0DE-42E8-ED7A-F76B6216E8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217DCB-14B2-132D-2672-A5C615AE3B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32EC68-9DC4-BA20-CBCE-3E0764ED255C}"/>
              </a:ext>
            </a:extLst>
          </p:cNvPr>
          <p:cNvSpPr>
            <a:spLocks noGrp="1"/>
          </p:cNvSpPr>
          <p:nvPr>
            <p:ph type="dt" sz="half" idx="10"/>
          </p:nvPr>
        </p:nvSpPr>
        <p:spPr/>
        <p:txBody>
          <a:bodyPr/>
          <a:lstStyle/>
          <a:p>
            <a:fld id="{52BC64F0-0DD7-410E-A1ED-E7AFE825CC88}" type="datetime1">
              <a:rPr lang="en-US" smtClean="0"/>
              <a:t>5/19/2026</a:t>
            </a:fld>
            <a:endParaRPr lang="en-US" dirty="0"/>
          </a:p>
        </p:txBody>
      </p:sp>
      <p:sp>
        <p:nvSpPr>
          <p:cNvPr id="5" name="Footer Placeholder 4">
            <a:extLst>
              <a:ext uri="{FF2B5EF4-FFF2-40B4-BE49-F238E27FC236}">
                <a16:creationId xmlns:a16="http://schemas.microsoft.com/office/drawing/2014/main" id="{774B0A25-F302-1EA9-4F50-0891E95E800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7DAE57E-6558-ACF5-1656-14DBA533B033}"/>
              </a:ext>
            </a:extLst>
          </p:cNvPr>
          <p:cNvSpPr>
            <a:spLocks noGrp="1"/>
          </p:cNvSpPr>
          <p:nvPr>
            <p:ph type="sldNum" sz="quarter" idx="12"/>
          </p:nvPr>
        </p:nvSpPr>
        <p:spPr/>
        <p:txBody>
          <a:bodyPr/>
          <a:lstStyle/>
          <a:p>
            <a:fld id="{B4A918BC-4D43-4B42-B3C0-E7EBE25E6AF0}" type="slidenum">
              <a:rPr lang="en-US" smtClean="0"/>
              <a:t>‹#›</a:t>
            </a:fld>
            <a:endParaRPr lang="en-US" dirty="0"/>
          </a:p>
        </p:txBody>
      </p:sp>
    </p:spTree>
    <p:extLst>
      <p:ext uri="{BB962C8B-B14F-4D97-AF65-F5344CB8AC3E}">
        <p14:creationId xmlns:p14="http://schemas.microsoft.com/office/powerpoint/2010/main" val="992155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1B79BA-29C8-5A09-D239-5BE7A7FFC0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269EE5-3869-1212-7961-2999D89658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140983-8727-1412-DE80-62BCE1795B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6634A5-1375-42B7-A36D-BA8EC897A2CF}" type="datetime1">
              <a:rPr lang="en-US" smtClean="0"/>
              <a:t>5/19/2026</a:t>
            </a:fld>
            <a:endParaRPr lang="en-US" dirty="0"/>
          </a:p>
        </p:txBody>
      </p:sp>
      <p:sp>
        <p:nvSpPr>
          <p:cNvPr id="5" name="Footer Placeholder 4">
            <a:extLst>
              <a:ext uri="{FF2B5EF4-FFF2-40B4-BE49-F238E27FC236}">
                <a16:creationId xmlns:a16="http://schemas.microsoft.com/office/drawing/2014/main" id="{28BC1A1B-79CC-EB9C-9015-046803B930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764CEA4F-6A93-0F96-CA08-F279B2740A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A918BC-4D43-4B42-B3C0-E7EBE25E6AF0}" type="slidenum">
              <a:rPr lang="en-US" smtClean="0"/>
              <a:pPr/>
              <a:t>‹#›</a:t>
            </a:fld>
            <a:endParaRPr lang="en-US" dirty="0"/>
          </a:p>
        </p:txBody>
      </p:sp>
    </p:spTree>
    <p:extLst>
      <p:ext uri="{BB962C8B-B14F-4D97-AF65-F5344CB8AC3E}">
        <p14:creationId xmlns:p14="http://schemas.microsoft.com/office/powerpoint/2010/main" val="2502065355"/>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white background with red and grey crosses&#10;&#10;Description automatically generated">
            <a:extLst>
              <a:ext uri="{FF2B5EF4-FFF2-40B4-BE49-F238E27FC236}">
                <a16:creationId xmlns:a16="http://schemas.microsoft.com/office/drawing/2014/main" id="{D3DFE68E-7230-3279-A3AB-C2A8B17CB53D}"/>
              </a:ext>
            </a:extLst>
          </p:cNvPr>
          <p:cNvPicPr>
            <a:picLocks noChangeAspect="1"/>
          </p:cNvPicPr>
          <p:nvPr/>
        </p:nvPicPr>
        <p:blipFill rotWithShape="1">
          <a:blip r:embed="rId3"/>
          <a:srcRect l="30889" r="-2" b="-2"/>
          <a:stretch/>
        </p:blipFill>
        <p:spPr>
          <a:xfrm>
            <a:off x="6096001" y="10"/>
            <a:ext cx="6095999" cy="6857992"/>
          </a:xfrm>
          <a:prstGeom prst="rect">
            <a:avLst/>
          </a:prstGeom>
        </p:spPr>
      </p:pic>
      <p:sp>
        <p:nvSpPr>
          <p:cNvPr id="2" name="Title 1">
            <a:extLst>
              <a:ext uri="{FF2B5EF4-FFF2-40B4-BE49-F238E27FC236}">
                <a16:creationId xmlns:a16="http://schemas.microsoft.com/office/drawing/2014/main" id="{026CCB2C-B9F1-1027-472E-D21F96154751}"/>
              </a:ext>
            </a:extLst>
          </p:cNvPr>
          <p:cNvSpPr>
            <a:spLocks noGrp="1"/>
          </p:cNvSpPr>
          <p:nvPr>
            <p:ph type="ctrTitle"/>
          </p:nvPr>
        </p:nvSpPr>
        <p:spPr>
          <a:xfrm>
            <a:off x="393681" y="3236913"/>
            <a:ext cx="9236094" cy="2557461"/>
          </a:xfrm>
        </p:spPr>
        <p:txBody>
          <a:bodyPr anchor="ctr">
            <a:normAutofit fontScale="90000"/>
          </a:bodyPr>
          <a:lstStyle/>
          <a:p>
            <a:r>
              <a:rPr lang="en-US" sz="3600" b="1" dirty="0">
                <a:latin typeface="Cambria" panose="02040503050406030204" pitchFamily="18" charset="0"/>
                <a:ea typeface="Cambria" panose="02040503050406030204" pitchFamily="18" charset="0"/>
                <a:cs typeface="Adobe Devanagari" panose="02040503050201020203" pitchFamily="18" charset="0"/>
              </a:rPr>
              <a:t>Capstone Project:</a:t>
            </a:r>
            <a:br>
              <a:rPr lang="en-US" sz="3600" dirty="0">
                <a:latin typeface="Cambria" panose="02040503050406030204" pitchFamily="18" charset="0"/>
                <a:ea typeface="Cambria" panose="02040503050406030204" pitchFamily="18" charset="0"/>
                <a:cs typeface="Adobe Devanagari" panose="02040503050201020203" pitchFamily="18" charset="0"/>
              </a:rPr>
            </a:br>
            <a:br>
              <a:rPr lang="en-US" sz="4000" dirty="0">
                <a:latin typeface="Cambria" panose="02040503050406030204" pitchFamily="18" charset="0"/>
                <a:ea typeface="Cambria" panose="02040503050406030204" pitchFamily="18" charset="0"/>
                <a:cs typeface="Adobe Devanagari" panose="02040503050201020203" pitchFamily="18" charset="0"/>
              </a:rPr>
            </a:br>
            <a:r>
              <a:rPr lang="en-US" sz="4400" dirty="0">
                <a:latin typeface="Cambria" panose="02040503050406030204" pitchFamily="18" charset="0"/>
                <a:ea typeface="Cambria" panose="02040503050406030204" pitchFamily="18" charset="0"/>
                <a:cs typeface="Adobe Devanagari" panose="02040503050201020203" pitchFamily="18" charset="0"/>
              </a:rPr>
              <a:t>Analyze social media Engagement to uncover Business performance insights (Social-Tech)</a:t>
            </a:r>
            <a:endParaRPr lang="en-US" sz="4000" dirty="0">
              <a:latin typeface="Cambria" panose="02040503050406030204" pitchFamily="18" charset="0"/>
              <a:ea typeface="Cambria" panose="02040503050406030204" pitchFamily="18" charset="0"/>
              <a:cs typeface="Adobe Devanagari" panose="02040503050201020203" pitchFamily="18" charset="0"/>
            </a:endParaRPr>
          </a:p>
        </p:txBody>
      </p:sp>
      <p:sp>
        <p:nvSpPr>
          <p:cNvPr id="3" name="Subtitle 2">
            <a:extLst>
              <a:ext uri="{FF2B5EF4-FFF2-40B4-BE49-F238E27FC236}">
                <a16:creationId xmlns:a16="http://schemas.microsoft.com/office/drawing/2014/main" id="{EA811F65-13A0-CBA8-8343-BED76633FF3D}"/>
              </a:ext>
            </a:extLst>
          </p:cNvPr>
          <p:cNvSpPr>
            <a:spLocks noGrp="1"/>
          </p:cNvSpPr>
          <p:nvPr>
            <p:ph type="subTitle" idx="1"/>
          </p:nvPr>
        </p:nvSpPr>
        <p:spPr>
          <a:xfrm>
            <a:off x="393681" y="679657"/>
            <a:ext cx="6095998" cy="1995280"/>
          </a:xfrm>
        </p:spPr>
        <p:txBody>
          <a:bodyPr anchor="b">
            <a:normAutofit/>
          </a:bodyPr>
          <a:lstStyle/>
          <a:p>
            <a:pPr algn="l">
              <a:lnSpc>
                <a:spcPct val="100000"/>
              </a:lnSpc>
            </a:pPr>
            <a:r>
              <a:rPr lang="en-US" b="1" dirty="0">
                <a:latin typeface="Cambria" panose="02040503050406030204" pitchFamily="18" charset="0"/>
                <a:ea typeface="Cambria" panose="02040503050406030204" pitchFamily="18" charset="0"/>
                <a:cs typeface="Adobe Devanagari" panose="02040503050201020203" pitchFamily="18" charset="0"/>
              </a:rPr>
              <a:t>Name</a:t>
            </a:r>
            <a:r>
              <a:rPr lang="en-US" dirty="0">
                <a:latin typeface="Cambria" panose="02040503050406030204" pitchFamily="18" charset="0"/>
                <a:ea typeface="Cambria" panose="02040503050406030204" pitchFamily="18" charset="0"/>
                <a:cs typeface="Adobe Devanagari" panose="02040503050201020203" pitchFamily="18" charset="0"/>
              </a:rPr>
              <a:t>: Kapil dev</a:t>
            </a:r>
          </a:p>
          <a:p>
            <a:pPr algn="l">
              <a:lnSpc>
                <a:spcPct val="100000"/>
              </a:lnSpc>
            </a:pPr>
            <a:r>
              <a:rPr lang="en-US" b="1" dirty="0">
                <a:latin typeface="Cambria" panose="02040503050406030204" pitchFamily="18" charset="0"/>
                <a:ea typeface="Cambria" panose="02040503050406030204" pitchFamily="18" charset="0"/>
                <a:cs typeface="Adobe Devanagari" panose="02040503050201020203" pitchFamily="18" charset="0"/>
              </a:rPr>
              <a:t>Enrollment Number:</a:t>
            </a:r>
            <a:r>
              <a:rPr lang="en-US" spc="-87" dirty="0">
                <a:solidFill>
                  <a:srgbClr val="343434"/>
                </a:solidFill>
                <a:latin typeface="TT Hoves"/>
                <a:ea typeface="TT Hoves"/>
                <a:cs typeface="TT Hoves"/>
                <a:sym typeface="TT Hoves"/>
              </a:rPr>
              <a:t> EN12026089810</a:t>
            </a:r>
            <a:endParaRPr lang="en-US" dirty="0">
              <a:latin typeface="Cambria" panose="02040503050406030204" pitchFamily="18" charset="0"/>
              <a:ea typeface="Cambria" panose="02040503050406030204" pitchFamily="18" charset="0"/>
              <a:cs typeface="Adobe Devanagari" panose="02040503050201020203" pitchFamily="18" charset="0"/>
            </a:endParaRPr>
          </a:p>
          <a:p>
            <a:pPr algn="l"/>
            <a:r>
              <a:rPr lang="en-US" b="1" dirty="0">
                <a:solidFill>
                  <a:schemeClr val="accent4"/>
                </a:solidFill>
                <a:latin typeface="Cambria" panose="02040503050406030204" pitchFamily="18" charset="0"/>
                <a:ea typeface="Cambria" panose="02040503050406030204" pitchFamily="18" charset="0"/>
                <a:cs typeface="Adobe Devanagari" panose="02040503050201020203" pitchFamily="18" charset="0"/>
              </a:rPr>
              <a:t>NIIT</a:t>
            </a:r>
            <a:r>
              <a:rPr lang="en-US" b="1" dirty="0">
                <a:latin typeface="Cambria" panose="02040503050406030204" pitchFamily="18" charset="0"/>
                <a:ea typeface="Cambria" panose="02040503050406030204" pitchFamily="18" charset="0"/>
                <a:cs typeface="Adobe Devanagari" panose="02040503050201020203" pitchFamily="18" charset="0"/>
              </a:rPr>
              <a:t> Batch Code</a:t>
            </a:r>
            <a:r>
              <a:rPr lang="en-US" dirty="0">
                <a:latin typeface="Cambria" panose="02040503050406030204" pitchFamily="18" charset="0"/>
                <a:ea typeface="Cambria" panose="02040503050406030204" pitchFamily="18" charset="0"/>
                <a:cs typeface="Adobe Devanagari" panose="02040503050201020203" pitchFamily="18" charset="0"/>
              </a:rPr>
              <a:t>: DA554S55 </a:t>
            </a:r>
          </a:p>
          <a:p>
            <a:pPr algn="l">
              <a:lnSpc>
                <a:spcPct val="100000"/>
              </a:lnSpc>
            </a:pPr>
            <a:r>
              <a:rPr lang="en-US" b="1" dirty="0">
                <a:latin typeface="Cambria" panose="02040503050406030204" pitchFamily="18" charset="0"/>
                <a:ea typeface="Cambria" panose="02040503050406030204" pitchFamily="18" charset="0"/>
                <a:cs typeface="Adobe Devanagari" panose="02040503050201020203" pitchFamily="18" charset="0"/>
              </a:rPr>
              <a:t>Mentor</a:t>
            </a:r>
            <a:r>
              <a:rPr lang="en-US" dirty="0">
                <a:latin typeface="Cambria" panose="02040503050406030204" pitchFamily="18" charset="0"/>
                <a:ea typeface="Cambria" panose="02040503050406030204" pitchFamily="18" charset="0"/>
                <a:cs typeface="Adobe Devanagari" panose="02040503050201020203" pitchFamily="18" charset="0"/>
              </a:rPr>
              <a:t>: Valli Natarajan</a:t>
            </a:r>
            <a:endParaRPr lang="en-US" i="1" dirty="0">
              <a:latin typeface="Cambria" panose="02040503050406030204" pitchFamily="18" charset="0"/>
              <a:ea typeface="Cambria" panose="02040503050406030204" pitchFamily="18" charset="0"/>
              <a:cs typeface="Adobe Devanagari" panose="02040503050201020203" pitchFamily="18" charset="0"/>
            </a:endParaRPr>
          </a:p>
        </p:txBody>
      </p:sp>
      <p:sp>
        <p:nvSpPr>
          <p:cNvPr id="6" name="Slide Number Placeholder 5">
            <a:extLst>
              <a:ext uri="{FF2B5EF4-FFF2-40B4-BE49-F238E27FC236}">
                <a16:creationId xmlns:a16="http://schemas.microsoft.com/office/drawing/2014/main" id="{29011D31-C950-F4B9-D9A7-0451F7161175}"/>
              </a:ext>
            </a:extLst>
          </p:cNvPr>
          <p:cNvSpPr>
            <a:spLocks noGrp="1"/>
          </p:cNvSpPr>
          <p:nvPr>
            <p:ph type="sldNum" sz="quarter" idx="12"/>
          </p:nvPr>
        </p:nvSpPr>
        <p:spPr/>
        <p:txBody>
          <a:bodyPr/>
          <a:lstStyle/>
          <a:p>
            <a:fld id="{B4A918BC-4D43-4B42-B3C0-E7EBE25E6AF0}" type="slidenum">
              <a:rPr lang="en-US" smtClean="0">
                <a:latin typeface="Arial" panose="020B0604020202020204" pitchFamily="34" charset="0"/>
                <a:cs typeface="Arial" panose="020B0604020202020204" pitchFamily="34" charset="0"/>
              </a:rPr>
              <a:t>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7172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4EBB2-76D3-9B07-D382-38EE396E854C}"/>
              </a:ext>
            </a:extLst>
          </p:cNvPr>
          <p:cNvSpPr>
            <a:spLocks noGrp="1"/>
          </p:cNvSpPr>
          <p:nvPr>
            <p:ph type="title"/>
          </p:nvPr>
        </p:nvSpPr>
        <p:spPr>
          <a:xfrm>
            <a:off x="267159" y="3494732"/>
            <a:ext cx="10380573" cy="690418"/>
          </a:xfrm>
        </p:spPr>
        <p:txBody>
          <a:bodyPr>
            <a:noAutofit/>
          </a:bodyPr>
          <a:lstStyle/>
          <a:p>
            <a:r>
              <a:rPr lang="en-US" b="1" dirty="0">
                <a:latin typeface="Cambria" panose="02040503050406030204" pitchFamily="18" charset="0"/>
                <a:ea typeface="Cambria" panose="02040503050406030204" pitchFamily="18" charset="0"/>
                <a:cs typeface="Arial" panose="020B0604020202020204" pitchFamily="34" charset="0"/>
              </a:rPr>
              <a:t>Business Objective:</a:t>
            </a:r>
          </a:p>
        </p:txBody>
      </p:sp>
      <p:sp>
        <p:nvSpPr>
          <p:cNvPr id="4" name="Slide Number Placeholder 3">
            <a:extLst>
              <a:ext uri="{FF2B5EF4-FFF2-40B4-BE49-F238E27FC236}">
                <a16:creationId xmlns:a16="http://schemas.microsoft.com/office/drawing/2014/main" id="{549A6222-2823-1447-BBEE-720ED4C8E9D3}"/>
              </a:ext>
            </a:extLst>
          </p:cNvPr>
          <p:cNvSpPr>
            <a:spLocks noGrp="1"/>
          </p:cNvSpPr>
          <p:nvPr>
            <p:ph type="sldNum" sz="quarter" idx="12"/>
          </p:nvPr>
        </p:nvSpPr>
        <p:spPr/>
        <p:txBody>
          <a:bodyPr/>
          <a:lstStyle/>
          <a:p>
            <a:fld id="{B4A918BC-4D43-4B42-B3C0-E7EBE25E6AF0}" type="slidenum">
              <a:rPr lang="en-US" smtClean="0">
                <a:latin typeface="Arial" panose="020B0604020202020204" pitchFamily="34" charset="0"/>
                <a:cs typeface="Arial" panose="020B0604020202020204" pitchFamily="34" charset="0"/>
              </a:rPr>
              <a:t>2</a:t>
            </a:fld>
            <a:endParaRPr lang="en-US" dirty="0">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A7156923-AB7F-2BFA-6C0B-2EB206DBD649}"/>
              </a:ext>
            </a:extLst>
          </p:cNvPr>
          <p:cNvSpPr txBox="1">
            <a:spLocks/>
          </p:cNvSpPr>
          <p:nvPr/>
        </p:nvSpPr>
        <p:spPr>
          <a:xfrm>
            <a:off x="543360" y="126625"/>
            <a:ext cx="7603306" cy="825007"/>
          </a:xfrm>
          <a:prstGeom prst="rect">
            <a:avLst/>
          </a:prstGeom>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a:lstStyle>
          <a:p>
            <a:r>
              <a:rPr lang="en-US" b="1" dirty="0">
                <a:latin typeface="Cambria" panose="02040503050406030204" pitchFamily="18" charset="0"/>
                <a:ea typeface="Cambria" panose="02040503050406030204" pitchFamily="18" charset="0"/>
                <a:cs typeface="Arial" panose="020B0604020202020204" pitchFamily="34" charset="0"/>
              </a:rPr>
              <a:t>Problem Statement:</a:t>
            </a:r>
          </a:p>
        </p:txBody>
      </p:sp>
      <p:sp>
        <p:nvSpPr>
          <p:cNvPr id="6" name="Content Placeholder 2">
            <a:extLst>
              <a:ext uri="{FF2B5EF4-FFF2-40B4-BE49-F238E27FC236}">
                <a16:creationId xmlns:a16="http://schemas.microsoft.com/office/drawing/2014/main" id="{1DC1BE8E-DA3C-68F0-409C-79DC1B5DD6EC}"/>
              </a:ext>
            </a:extLst>
          </p:cNvPr>
          <p:cNvSpPr txBox="1">
            <a:spLocks/>
          </p:cNvSpPr>
          <p:nvPr/>
        </p:nvSpPr>
        <p:spPr>
          <a:xfrm>
            <a:off x="543360" y="915131"/>
            <a:ext cx="9606051" cy="2241024"/>
          </a:xfrm>
          <a:prstGeom prst="rect">
            <a:avLst/>
          </a:prstGeom>
        </p:spPr>
        <p:txBody>
          <a:bodyPr vert="horz" lIns="91440" tIns="45720" rIns="91440" bIns="45720" rtlCol="0">
            <a:noAutofit/>
          </a:bodyPr>
          <a:lstStyle>
            <a:lvl1pPr marL="0" indent="0" algn="l" defTabSz="914400" rtl="0" eaLnBrk="1" latinLnBrk="0" hangingPunct="1">
              <a:lnSpc>
                <a:spcPct val="110000"/>
              </a:lnSpc>
              <a:spcBef>
                <a:spcPts val="1000"/>
              </a:spcBef>
              <a:buFont typeface="Arial" panose="020B0604020202020204" pitchFamily="34" charset="0"/>
              <a:buNone/>
              <a:defRPr sz="2200" kern="1200">
                <a:solidFill>
                  <a:schemeClr val="tx1"/>
                </a:solidFill>
                <a:latin typeface="+mn-lt"/>
                <a:ea typeface="+mn-ea"/>
                <a:cs typeface="+mn-cs"/>
              </a:defRPr>
            </a:lvl1pPr>
            <a:lvl2pPr marL="228600" indent="0" algn="l"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457200" indent="0" algn="l"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6858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9144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lnSpc>
                <a:spcPct val="100000"/>
              </a:lnSpc>
              <a:spcBef>
                <a:spcPct val="0"/>
              </a:spcBef>
              <a:spcAft>
                <a:spcPct val="0"/>
              </a:spcAft>
              <a:buFontTx/>
              <a:buChar char="•"/>
            </a:pPr>
            <a:r>
              <a:rPr lang="en-US" altLang="en-US" sz="2000" dirty="0">
                <a:latin typeface="Cambria" panose="02040503050406030204" pitchFamily="18" charset="0"/>
                <a:ea typeface="Cambria" panose="02040503050406030204" pitchFamily="18" charset="0"/>
              </a:rPr>
              <a:t>Logistics </a:t>
            </a:r>
            <a:r>
              <a:rPr lang="en-US" sz="2000" spc="149" dirty="0">
                <a:solidFill>
                  <a:srgbClr val="343434"/>
                </a:solidFill>
                <a:latin typeface="Calibri" panose="020F0502020204030204" pitchFamily="34" charset="0"/>
                <a:ea typeface="Calibri" panose="020F0502020204030204" pitchFamily="34" charset="0"/>
                <a:cs typeface="Calibri" panose="020F0502020204030204" pitchFamily="34" charset="0"/>
                <a:sym typeface="TT Hoves"/>
              </a:rPr>
              <a:t>Social media platforms generate vast amounts of engagement data, but raw metrics alone do not reveal meaningful insights. The challenge is to apply statistical and machine learning techniques—including descriptive statistics, sampling, hypothesis testing, chi-square analysis, and regression modeling—to uncover patterns, relationships, and predictive factors .</a:t>
            </a:r>
          </a:p>
          <a:p>
            <a:pPr eaLnBrk="0" fontAlgn="base" hangingPunct="0">
              <a:lnSpc>
                <a:spcPct val="100000"/>
              </a:lnSpc>
              <a:spcBef>
                <a:spcPct val="0"/>
              </a:spcBef>
              <a:spcAft>
                <a:spcPct val="0"/>
              </a:spcAft>
            </a:pPr>
            <a:endParaRPr lang="en-US" altLang="en-US" sz="1800" dirty="0">
              <a:latin typeface="Calibri" panose="020F0502020204030204" pitchFamily="34" charset="0"/>
              <a:ea typeface="Calibri" panose="020F0502020204030204" pitchFamily="34" charset="0"/>
              <a:cs typeface="Calibri" panose="020F0502020204030204" pitchFamily="34" charset="0"/>
            </a:endParaRPr>
          </a:p>
          <a:p>
            <a:pPr lvl="0" eaLnBrk="0" fontAlgn="base" hangingPunct="0">
              <a:lnSpc>
                <a:spcPct val="100000"/>
              </a:lnSpc>
              <a:spcBef>
                <a:spcPct val="0"/>
              </a:spcBef>
              <a:spcAft>
                <a:spcPct val="0"/>
              </a:spcAft>
              <a:buFontTx/>
              <a:buChar char="•"/>
            </a:pPr>
            <a:r>
              <a:rPr lang="en-US" altLang="en-US" sz="2000" dirty="0">
                <a:latin typeface="Cambria" panose="02040503050406030204" pitchFamily="18" charset="0"/>
                <a:ea typeface="Cambria" panose="02040503050406030204" pitchFamily="18" charset="0"/>
              </a:rPr>
              <a:t>The goal is to provide actionable insights for improving content strategy and maximizing audience interaction. </a:t>
            </a:r>
          </a:p>
        </p:txBody>
      </p:sp>
      <p:sp>
        <p:nvSpPr>
          <p:cNvPr id="8" name="TextBox 7">
            <a:extLst>
              <a:ext uri="{FF2B5EF4-FFF2-40B4-BE49-F238E27FC236}">
                <a16:creationId xmlns:a16="http://schemas.microsoft.com/office/drawing/2014/main" id="{07DBA893-98CD-5469-E4A3-E1D4F8523470}"/>
              </a:ext>
            </a:extLst>
          </p:cNvPr>
          <p:cNvSpPr txBox="1"/>
          <p:nvPr/>
        </p:nvSpPr>
        <p:spPr>
          <a:xfrm>
            <a:off x="404811" y="4208044"/>
            <a:ext cx="10948989" cy="2649956"/>
          </a:xfrm>
          <a:prstGeom prst="rect">
            <a:avLst/>
          </a:prstGeom>
          <a:noFill/>
        </p:spPr>
        <p:txBody>
          <a:bodyPr wrap="square">
            <a:spAutoFit/>
          </a:bodyPr>
          <a:lstStyle/>
          <a:p>
            <a:pPr marL="285750" marR="0" indent="-285750">
              <a:lnSpc>
                <a:spcPct val="115000"/>
              </a:lnSpc>
              <a:spcAft>
                <a:spcPts val="800"/>
              </a:spcAft>
              <a:buFont typeface="Wingdings" panose="05000000000000000000" pitchFamily="2" charset="2"/>
              <a:buChar char="Ø"/>
            </a:pPr>
            <a:r>
              <a:rPr lang="en-US" b="1" kern="100" dirty="0">
                <a:effectLst/>
                <a:latin typeface="Cambria" panose="02040503050406030204" pitchFamily="18" charset="0"/>
                <a:ea typeface="Cambria" panose="02040503050406030204" pitchFamily="18" charset="0"/>
                <a:cs typeface="Times New Roman" panose="02020603050405020304" pitchFamily="18" charset="0"/>
              </a:rPr>
              <a:t>Objective 1: </a:t>
            </a:r>
            <a:r>
              <a:rPr lang="en-US" kern="100" dirty="0">
                <a:latin typeface="Cambria" panose="02040503050406030204" pitchFamily="18" charset="0"/>
                <a:ea typeface="Cambria" panose="02040503050406030204" pitchFamily="18" charset="0"/>
                <a:cs typeface="Times New Roman" panose="02020603050405020304" pitchFamily="18" charset="0"/>
              </a:rPr>
              <a:t>Platform Analysis</a:t>
            </a:r>
            <a:endParaRPr lang="en-US" kern="100" dirty="0">
              <a:effectLst/>
              <a:latin typeface="Cambria" panose="02040503050406030204" pitchFamily="18" charset="0"/>
              <a:ea typeface="Cambria" panose="02040503050406030204" pitchFamily="18" charset="0"/>
              <a:cs typeface="Times New Roman" panose="02020603050405020304" pitchFamily="18" charset="0"/>
            </a:endParaRPr>
          </a:p>
          <a:p>
            <a:pPr marL="285750" indent="-285750">
              <a:buFont typeface="Wingdings" panose="05000000000000000000" pitchFamily="2" charset="2"/>
              <a:buChar char="Ø"/>
            </a:pPr>
            <a:r>
              <a:rPr lang="en-US" b="1" dirty="0">
                <a:latin typeface="Cambria" panose="02040503050406030204" pitchFamily="18" charset="0"/>
                <a:ea typeface="Cambria" panose="02040503050406030204" pitchFamily="18" charset="0"/>
              </a:rPr>
              <a:t>Objective 2: </a:t>
            </a:r>
            <a:r>
              <a:rPr lang="en-US" dirty="0">
                <a:latin typeface="Cambria" panose="02040503050406030204" pitchFamily="18" charset="0"/>
                <a:ea typeface="Cambria" panose="02040503050406030204" pitchFamily="18" charset="0"/>
              </a:rPr>
              <a:t>Engagement Insights</a:t>
            </a:r>
          </a:p>
          <a:p>
            <a:pPr marL="171450" indent="-171450">
              <a:buFont typeface="Wingdings" panose="05000000000000000000" pitchFamily="2" charset="2"/>
              <a:buChar char="Ø"/>
            </a:pPr>
            <a:endParaRPr lang="en-US" sz="700"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Ø"/>
            </a:pPr>
            <a:r>
              <a:rPr lang="en-US" b="1" dirty="0">
                <a:latin typeface="Cambria" panose="02040503050406030204" pitchFamily="18" charset="0"/>
                <a:ea typeface="Cambria" panose="02040503050406030204" pitchFamily="18" charset="0"/>
              </a:rPr>
              <a:t>Objective 3: </a:t>
            </a:r>
            <a:r>
              <a:rPr lang="en-US" dirty="0">
                <a:latin typeface="Cambria" panose="02040503050406030204" pitchFamily="18" charset="0"/>
                <a:ea typeface="Cambria" panose="02040503050406030204" pitchFamily="18" charset="0"/>
              </a:rPr>
              <a:t>Followers Growth Analysis</a:t>
            </a:r>
          </a:p>
          <a:p>
            <a:pPr marL="171450" indent="-171450">
              <a:buFont typeface="Wingdings" panose="05000000000000000000" pitchFamily="2" charset="2"/>
              <a:buChar char="Ø"/>
            </a:pPr>
            <a:endParaRPr lang="en-US" sz="800"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Ø"/>
            </a:pPr>
            <a:r>
              <a:rPr lang="en-US" b="1" dirty="0">
                <a:latin typeface="Cambria" panose="02040503050406030204" pitchFamily="18" charset="0"/>
                <a:ea typeface="Cambria" panose="02040503050406030204" pitchFamily="18" charset="0"/>
              </a:rPr>
              <a:t>Objective 4: </a:t>
            </a:r>
            <a:r>
              <a:rPr lang="en-US" dirty="0">
                <a:latin typeface="Cambria" panose="02040503050406030204" pitchFamily="18" charset="0"/>
                <a:ea typeface="Cambria" panose="02040503050406030204" pitchFamily="18" charset="0"/>
              </a:rPr>
              <a:t>Independent $ Dependent Engagement Metrics</a:t>
            </a:r>
          </a:p>
          <a:p>
            <a:pPr marL="171450" indent="-171450">
              <a:buFont typeface="Wingdings" panose="05000000000000000000" pitchFamily="2" charset="2"/>
              <a:buChar char="Ø"/>
            </a:pPr>
            <a:endParaRPr lang="en-US" sz="900"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Ø"/>
            </a:pPr>
            <a:r>
              <a:rPr lang="en-US" b="1" dirty="0">
                <a:latin typeface="Cambria" panose="02040503050406030204" pitchFamily="18" charset="0"/>
                <a:ea typeface="Cambria" panose="02040503050406030204" pitchFamily="18" charset="0"/>
              </a:rPr>
              <a:t>Objective 5: </a:t>
            </a:r>
            <a:r>
              <a:rPr lang="en-US" dirty="0">
                <a:latin typeface="Cambria" panose="02040503050406030204" pitchFamily="18" charset="0"/>
                <a:ea typeface="Cambria" panose="02040503050406030204" pitchFamily="18" charset="0"/>
              </a:rPr>
              <a:t>Analyze Creator performance</a:t>
            </a:r>
          </a:p>
          <a:p>
            <a:pPr marL="171450" indent="-171450">
              <a:buFont typeface="Wingdings" panose="05000000000000000000" pitchFamily="2" charset="2"/>
              <a:buChar char="Ø"/>
            </a:pPr>
            <a:endParaRPr lang="en-US" sz="800"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Ø"/>
            </a:pPr>
            <a:r>
              <a:rPr lang="en-US" b="1" dirty="0">
                <a:latin typeface="Cambria" panose="02040503050406030204" pitchFamily="18" charset="0"/>
                <a:ea typeface="Cambria" panose="02040503050406030204" pitchFamily="18" charset="0"/>
              </a:rPr>
              <a:t>Objective 6: </a:t>
            </a:r>
            <a:r>
              <a:rPr lang="en-US" dirty="0">
                <a:latin typeface="Cambria" panose="02040503050406030204" pitchFamily="18" charset="0"/>
                <a:ea typeface="Cambria" panose="02040503050406030204" pitchFamily="18" charset="0"/>
              </a:rPr>
              <a:t>Assess the Relationships</a:t>
            </a:r>
          </a:p>
          <a:p>
            <a:pPr marL="0" marR="0">
              <a:lnSpc>
                <a:spcPct val="115000"/>
              </a:lnSpc>
              <a:spcAft>
                <a:spcPts val="800"/>
              </a:spcAft>
              <a:buNone/>
            </a:pPr>
            <a:endParaRPr lang="en-US" sz="1600" kern="100" dirty="0">
              <a:effectLst/>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4715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45C73-96D0-6EEC-14C2-F21DC70FD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F108D-C33D-5BE4-5F2F-A1AF144AEBC7}"/>
              </a:ext>
            </a:extLst>
          </p:cNvPr>
          <p:cNvSpPr>
            <a:spLocks noGrp="1"/>
          </p:cNvSpPr>
          <p:nvPr>
            <p:ph type="title"/>
          </p:nvPr>
        </p:nvSpPr>
        <p:spPr>
          <a:xfrm>
            <a:off x="273910" y="365970"/>
            <a:ext cx="10380573" cy="842818"/>
          </a:xfrm>
        </p:spPr>
        <p:txBody>
          <a:bodyPr>
            <a:normAutofit/>
          </a:bodyPr>
          <a:lstStyle/>
          <a:p>
            <a:r>
              <a:rPr lang="en-US" b="1" dirty="0">
                <a:latin typeface="Cambria" panose="02040503050406030204" pitchFamily="18" charset="0"/>
                <a:ea typeface="Cambria" panose="02040503050406030204" pitchFamily="18" charset="0"/>
                <a:cs typeface="Arial" panose="020B0604020202020204" pitchFamily="34" charset="0"/>
              </a:rPr>
              <a:t>Technology Stack</a:t>
            </a:r>
          </a:p>
        </p:txBody>
      </p:sp>
      <p:sp>
        <p:nvSpPr>
          <p:cNvPr id="7" name="Content Placeholder 6">
            <a:extLst>
              <a:ext uri="{FF2B5EF4-FFF2-40B4-BE49-F238E27FC236}">
                <a16:creationId xmlns:a16="http://schemas.microsoft.com/office/drawing/2014/main" id="{408523D7-9C7C-0EDD-B5AE-798D7C04AC05}"/>
              </a:ext>
            </a:extLst>
          </p:cNvPr>
          <p:cNvSpPr>
            <a:spLocks noGrp="1"/>
          </p:cNvSpPr>
          <p:nvPr>
            <p:ph idx="1"/>
          </p:nvPr>
        </p:nvSpPr>
        <p:spPr>
          <a:xfrm>
            <a:off x="1006069" y="1433213"/>
            <a:ext cx="10109606" cy="2195811"/>
          </a:xfrm>
        </p:spPr>
        <p:txBody>
          <a:bodyPr>
            <a:normAutofit fontScale="85000" lnSpcReduction="20000"/>
          </a:bodyPr>
          <a:lstStyle/>
          <a:p>
            <a:pPr marL="0" lvl="0" indent="0" eaLnBrk="0" fontAlgn="base" hangingPunct="0">
              <a:lnSpc>
                <a:spcPct val="100000"/>
              </a:lnSpc>
              <a:spcBef>
                <a:spcPct val="0"/>
              </a:spcBef>
              <a:spcAft>
                <a:spcPct val="0"/>
              </a:spcAft>
              <a:buFontTx/>
              <a:buChar char="•"/>
            </a:pPr>
            <a:r>
              <a:rPr lang="en-US" altLang="en-US" b="1" dirty="0">
                <a:latin typeface="Cambria" panose="02040503050406030204" pitchFamily="18" charset="0"/>
                <a:ea typeface="Cambria" panose="02040503050406030204" pitchFamily="18" charset="0"/>
                <a:cs typeface="Adobe Devanagari" panose="02040503050201020203" pitchFamily="18" charset="0"/>
              </a:rPr>
              <a:t>Python</a:t>
            </a:r>
            <a:r>
              <a:rPr lang="en-US" altLang="en-US" dirty="0">
                <a:latin typeface="Cambria" panose="02040503050406030204" pitchFamily="18" charset="0"/>
                <a:ea typeface="Cambria" panose="02040503050406030204" pitchFamily="18" charset="0"/>
                <a:cs typeface="Adobe Devanagari" panose="02040503050201020203" pitchFamily="18" charset="0"/>
              </a:rPr>
              <a:t> – EDA, statistics, ML</a:t>
            </a:r>
          </a:p>
          <a:p>
            <a:pPr marL="0" lvl="0" indent="0" eaLnBrk="0" fontAlgn="base" hangingPunct="0">
              <a:lnSpc>
                <a:spcPct val="100000"/>
              </a:lnSpc>
              <a:spcBef>
                <a:spcPct val="0"/>
              </a:spcBef>
              <a:spcAft>
                <a:spcPct val="0"/>
              </a:spcAft>
              <a:buNone/>
            </a:pPr>
            <a:endParaRPr lang="en-US" altLang="en-US" dirty="0">
              <a:latin typeface="Cambria" panose="02040503050406030204" pitchFamily="18" charset="0"/>
              <a:ea typeface="Cambria" panose="02040503050406030204" pitchFamily="18" charset="0"/>
              <a:cs typeface="Adobe Devanagari" panose="02040503050201020203" pitchFamily="18" charset="0"/>
            </a:endParaRPr>
          </a:p>
          <a:p>
            <a:pPr marL="0" lvl="0" indent="0" eaLnBrk="0" fontAlgn="base" hangingPunct="0">
              <a:lnSpc>
                <a:spcPct val="100000"/>
              </a:lnSpc>
              <a:spcBef>
                <a:spcPct val="0"/>
              </a:spcBef>
              <a:spcAft>
                <a:spcPct val="0"/>
              </a:spcAft>
              <a:buFontTx/>
              <a:buChar char="•"/>
            </a:pPr>
            <a:r>
              <a:rPr lang="en-US" altLang="en-US" b="1" dirty="0">
                <a:latin typeface="Cambria" panose="02040503050406030204" pitchFamily="18" charset="0"/>
                <a:ea typeface="Cambria" panose="02040503050406030204" pitchFamily="18" charset="0"/>
                <a:cs typeface="Adobe Devanagari" panose="02040503050201020203" pitchFamily="18" charset="0"/>
              </a:rPr>
              <a:t>SQL (MySQL)</a:t>
            </a:r>
            <a:r>
              <a:rPr lang="en-US" altLang="en-US" dirty="0">
                <a:latin typeface="Cambria" panose="02040503050406030204" pitchFamily="18" charset="0"/>
                <a:ea typeface="Cambria" panose="02040503050406030204" pitchFamily="18" charset="0"/>
                <a:cs typeface="Adobe Devanagari" panose="02040503050201020203" pitchFamily="18" charset="0"/>
              </a:rPr>
              <a:t> – Aggregation, joins</a:t>
            </a:r>
          </a:p>
          <a:p>
            <a:pPr marL="0" lvl="0" indent="0" eaLnBrk="0" fontAlgn="base" hangingPunct="0">
              <a:lnSpc>
                <a:spcPct val="100000"/>
              </a:lnSpc>
              <a:spcBef>
                <a:spcPct val="0"/>
              </a:spcBef>
              <a:spcAft>
                <a:spcPct val="0"/>
              </a:spcAft>
              <a:buNone/>
            </a:pPr>
            <a:endParaRPr lang="en-US" altLang="en-US" dirty="0">
              <a:latin typeface="Cambria" panose="02040503050406030204" pitchFamily="18" charset="0"/>
              <a:ea typeface="Cambria" panose="02040503050406030204" pitchFamily="18" charset="0"/>
              <a:cs typeface="Adobe Devanagari" panose="02040503050201020203" pitchFamily="18" charset="0"/>
            </a:endParaRPr>
          </a:p>
          <a:p>
            <a:pPr marL="0" lvl="0" indent="0" eaLnBrk="0" fontAlgn="base" hangingPunct="0">
              <a:lnSpc>
                <a:spcPct val="100000"/>
              </a:lnSpc>
              <a:spcBef>
                <a:spcPct val="0"/>
              </a:spcBef>
              <a:spcAft>
                <a:spcPct val="0"/>
              </a:spcAft>
              <a:buFontTx/>
              <a:buChar char="•"/>
            </a:pPr>
            <a:r>
              <a:rPr lang="en-US" altLang="en-US" b="1" dirty="0">
                <a:latin typeface="Cambria" panose="02040503050406030204" pitchFamily="18" charset="0"/>
                <a:ea typeface="Cambria" panose="02040503050406030204" pitchFamily="18" charset="0"/>
                <a:cs typeface="Adobe Devanagari" panose="02040503050201020203" pitchFamily="18" charset="0"/>
              </a:rPr>
              <a:t>Power BI</a:t>
            </a:r>
            <a:r>
              <a:rPr lang="en-US" altLang="en-US" dirty="0">
                <a:latin typeface="Cambria" panose="02040503050406030204" pitchFamily="18" charset="0"/>
                <a:ea typeface="Cambria" panose="02040503050406030204" pitchFamily="18" charset="0"/>
                <a:cs typeface="Adobe Devanagari" panose="02040503050201020203" pitchFamily="18" charset="0"/>
              </a:rPr>
              <a:t> – Interactive dashboards, KPI extraction</a:t>
            </a:r>
          </a:p>
          <a:p>
            <a:pPr marL="0" lvl="0" indent="0" eaLnBrk="0" fontAlgn="base" hangingPunct="0">
              <a:lnSpc>
                <a:spcPct val="100000"/>
              </a:lnSpc>
              <a:spcBef>
                <a:spcPct val="0"/>
              </a:spcBef>
              <a:spcAft>
                <a:spcPct val="0"/>
              </a:spcAft>
              <a:buNone/>
            </a:pPr>
            <a:endParaRPr lang="en-US" altLang="en-US" dirty="0">
              <a:latin typeface="Cambria" panose="02040503050406030204" pitchFamily="18" charset="0"/>
              <a:ea typeface="Cambria" panose="02040503050406030204" pitchFamily="18" charset="0"/>
              <a:cs typeface="Adobe Devanagari" panose="02040503050201020203" pitchFamily="18" charset="0"/>
            </a:endParaRPr>
          </a:p>
          <a:p>
            <a:pPr marL="0" lvl="0" indent="0" eaLnBrk="0" fontAlgn="base" hangingPunct="0">
              <a:lnSpc>
                <a:spcPct val="100000"/>
              </a:lnSpc>
              <a:spcBef>
                <a:spcPct val="0"/>
              </a:spcBef>
              <a:spcAft>
                <a:spcPct val="0"/>
              </a:spcAft>
              <a:buFontTx/>
              <a:buChar char="•"/>
            </a:pPr>
            <a:r>
              <a:rPr lang="en-US" altLang="en-US" b="1" dirty="0">
                <a:latin typeface="Cambria" panose="02040503050406030204" pitchFamily="18" charset="0"/>
                <a:ea typeface="Cambria" panose="02040503050406030204" pitchFamily="18" charset="0"/>
                <a:cs typeface="Adobe Devanagari" panose="02040503050201020203" pitchFamily="18" charset="0"/>
              </a:rPr>
              <a:t>Libraries</a:t>
            </a:r>
            <a:r>
              <a:rPr lang="en-US" altLang="en-US" dirty="0">
                <a:latin typeface="Cambria" panose="02040503050406030204" pitchFamily="18" charset="0"/>
                <a:ea typeface="Cambria" panose="02040503050406030204" pitchFamily="18" charset="0"/>
                <a:cs typeface="Adobe Devanagari" panose="02040503050201020203" pitchFamily="18" charset="0"/>
              </a:rPr>
              <a:t> – Pandas, NumPy, Sklearn, Matplotlib, Seaborn, </a:t>
            </a:r>
            <a:r>
              <a:rPr lang="en-US" altLang="en-US" dirty="0" err="1">
                <a:latin typeface="Cambria" panose="02040503050406030204" pitchFamily="18" charset="0"/>
                <a:ea typeface="Cambria" panose="02040503050406030204" pitchFamily="18" charset="0"/>
                <a:cs typeface="Adobe Devanagari" panose="02040503050201020203" pitchFamily="18" charset="0"/>
              </a:rPr>
              <a:t>Scipy</a:t>
            </a:r>
            <a:endParaRPr lang="en-US" altLang="en-US" dirty="0">
              <a:latin typeface="Cambria" panose="02040503050406030204" pitchFamily="18" charset="0"/>
              <a:ea typeface="Cambria" panose="02040503050406030204" pitchFamily="18" charset="0"/>
              <a:cs typeface="Adobe Devanagari" panose="02040503050201020203" pitchFamily="18" charset="0"/>
            </a:endParaRPr>
          </a:p>
          <a:p>
            <a:endParaRPr lang="en-IN" dirty="0">
              <a:latin typeface="Cambria" panose="02040503050406030204" pitchFamily="18" charset="0"/>
              <a:ea typeface="Cambria"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E8A20D62-25A1-6C14-DB8F-0F5423690F3F}"/>
              </a:ext>
            </a:extLst>
          </p:cNvPr>
          <p:cNvSpPr>
            <a:spLocks noGrp="1"/>
          </p:cNvSpPr>
          <p:nvPr>
            <p:ph type="sldNum" sz="quarter" idx="12"/>
          </p:nvPr>
        </p:nvSpPr>
        <p:spPr/>
        <p:txBody>
          <a:bodyPr/>
          <a:lstStyle/>
          <a:p>
            <a:fld id="{B4A918BC-4D43-4B42-B3C0-E7EBE25E6AF0}" type="slidenum">
              <a:rPr lang="en-US" smtClean="0"/>
              <a:t>3</a:t>
            </a:fld>
            <a:endParaRPr lang="en-US"/>
          </a:p>
        </p:txBody>
      </p:sp>
    </p:spTree>
    <p:extLst>
      <p:ext uri="{BB962C8B-B14F-4D97-AF65-F5344CB8AC3E}">
        <p14:creationId xmlns:p14="http://schemas.microsoft.com/office/powerpoint/2010/main" val="2197442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263F6-9614-67BE-6B8F-527626357F1D}"/>
              </a:ext>
            </a:extLst>
          </p:cNvPr>
          <p:cNvSpPr>
            <a:spLocks noGrp="1"/>
          </p:cNvSpPr>
          <p:nvPr>
            <p:ph type="title"/>
          </p:nvPr>
        </p:nvSpPr>
        <p:spPr>
          <a:xfrm>
            <a:off x="288197" y="233004"/>
            <a:ext cx="10380573" cy="842818"/>
          </a:xfrm>
        </p:spPr>
        <p:txBody>
          <a:bodyPr>
            <a:normAutofit/>
          </a:bodyPr>
          <a:lstStyle/>
          <a:p>
            <a:r>
              <a:rPr lang="en-US" b="1" dirty="0">
                <a:latin typeface="Cambria" panose="02040503050406030204" pitchFamily="18" charset="0"/>
                <a:ea typeface="Cambria" panose="02040503050406030204" pitchFamily="18" charset="0"/>
                <a:cs typeface="Arial" panose="020B0604020202020204" pitchFamily="34" charset="0"/>
              </a:rPr>
              <a:t>Data Description</a:t>
            </a:r>
          </a:p>
        </p:txBody>
      </p:sp>
      <p:sp>
        <p:nvSpPr>
          <p:cNvPr id="7" name="Content Placeholder 6">
            <a:extLst>
              <a:ext uri="{FF2B5EF4-FFF2-40B4-BE49-F238E27FC236}">
                <a16:creationId xmlns:a16="http://schemas.microsoft.com/office/drawing/2014/main" id="{9797DB8E-895D-03B4-EC46-31C99BF82CD9}"/>
              </a:ext>
            </a:extLst>
          </p:cNvPr>
          <p:cNvSpPr>
            <a:spLocks noGrp="1"/>
          </p:cNvSpPr>
          <p:nvPr>
            <p:ph idx="1"/>
          </p:nvPr>
        </p:nvSpPr>
        <p:spPr>
          <a:xfrm>
            <a:off x="991781" y="1314448"/>
            <a:ext cx="6903521" cy="1771651"/>
          </a:xfrm>
        </p:spPr>
        <p:txBody>
          <a:bodyPr>
            <a:normAutofit fontScale="85000" lnSpcReduction="10000"/>
          </a:bodyPr>
          <a:lstStyle/>
          <a:p>
            <a:pPr marL="0" lvl="0" indent="0" eaLnBrk="0" fontAlgn="base" hangingPunct="0">
              <a:lnSpc>
                <a:spcPct val="100000"/>
              </a:lnSpc>
              <a:spcBef>
                <a:spcPct val="0"/>
              </a:spcBef>
              <a:spcAft>
                <a:spcPct val="0"/>
              </a:spcAft>
              <a:buFontTx/>
              <a:buChar char="•"/>
            </a:pPr>
            <a:r>
              <a:rPr lang="en-US" altLang="en-US" sz="1900" dirty="0">
                <a:latin typeface="Cambria" panose="02040503050406030204" pitchFamily="18" charset="0"/>
                <a:ea typeface="Cambria" panose="02040503050406030204" pitchFamily="18" charset="0"/>
              </a:rPr>
              <a:t>Domain: </a:t>
            </a:r>
            <a:r>
              <a:rPr lang="en-US" altLang="en-US" sz="1900" b="1" dirty="0">
                <a:latin typeface="Cambria" panose="02040503050406030204" pitchFamily="18" charset="0"/>
                <a:ea typeface="Cambria" panose="02040503050406030204" pitchFamily="18" charset="0"/>
              </a:rPr>
              <a:t>Social Media Engagement</a:t>
            </a:r>
          </a:p>
          <a:p>
            <a:pPr marL="0" lvl="0" indent="0" eaLnBrk="0" fontAlgn="base" hangingPunct="0">
              <a:lnSpc>
                <a:spcPct val="100000"/>
              </a:lnSpc>
              <a:spcBef>
                <a:spcPct val="0"/>
              </a:spcBef>
              <a:spcAft>
                <a:spcPct val="0"/>
              </a:spcAft>
              <a:buNone/>
            </a:pPr>
            <a:endParaRPr lang="en-US" altLang="en-US" sz="1900" dirty="0">
              <a:latin typeface="Cambria" panose="02040503050406030204" pitchFamily="18" charset="0"/>
              <a:ea typeface="Cambria" panose="02040503050406030204" pitchFamily="18" charset="0"/>
            </a:endParaRPr>
          </a:p>
          <a:p>
            <a:pPr marL="0" lvl="0" indent="0" eaLnBrk="0" fontAlgn="base" hangingPunct="0">
              <a:lnSpc>
                <a:spcPct val="100000"/>
              </a:lnSpc>
              <a:spcBef>
                <a:spcPct val="0"/>
              </a:spcBef>
              <a:spcAft>
                <a:spcPct val="0"/>
              </a:spcAft>
              <a:buFontTx/>
              <a:buChar char="•"/>
            </a:pPr>
            <a:r>
              <a:rPr lang="en-US" altLang="en-US" sz="1900" dirty="0">
                <a:latin typeface="Cambria" panose="02040503050406030204" pitchFamily="18" charset="0"/>
                <a:ea typeface="Cambria" panose="02040503050406030204" pitchFamily="18" charset="0"/>
              </a:rPr>
              <a:t>Datasets: </a:t>
            </a:r>
            <a:r>
              <a:rPr lang="en-US" altLang="en-US" sz="1900" dirty="0" err="1">
                <a:latin typeface="Cambria" panose="02040503050406030204" pitchFamily="18" charset="0"/>
                <a:ea typeface="Cambria" panose="02040503050406030204" pitchFamily="18" charset="0"/>
              </a:rPr>
              <a:t>audience_demographics</a:t>
            </a:r>
            <a:r>
              <a:rPr lang="en-US" altLang="en-US" sz="1900" dirty="0">
                <a:latin typeface="Cambria" panose="02040503050406030204" pitchFamily="18" charset="0"/>
                <a:ea typeface="Cambria" panose="02040503050406030204" pitchFamily="18" charset="0"/>
              </a:rPr>
              <a:t>, creator, engagement, post, sponsorship</a:t>
            </a:r>
          </a:p>
          <a:p>
            <a:pPr marL="0" lvl="0" indent="0" eaLnBrk="0" fontAlgn="base" hangingPunct="0">
              <a:lnSpc>
                <a:spcPct val="100000"/>
              </a:lnSpc>
              <a:spcBef>
                <a:spcPct val="0"/>
              </a:spcBef>
              <a:spcAft>
                <a:spcPct val="0"/>
              </a:spcAft>
              <a:buNone/>
            </a:pPr>
            <a:endParaRPr lang="en-US" altLang="en-US" sz="1900" dirty="0">
              <a:latin typeface="Cambria" panose="02040503050406030204" pitchFamily="18" charset="0"/>
              <a:ea typeface="Cambria" panose="02040503050406030204" pitchFamily="18" charset="0"/>
            </a:endParaRPr>
          </a:p>
          <a:p>
            <a:pPr marL="0" lvl="0" indent="0" eaLnBrk="0" fontAlgn="base" hangingPunct="0">
              <a:lnSpc>
                <a:spcPct val="100000"/>
              </a:lnSpc>
              <a:spcBef>
                <a:spcPct val="0"/>
              </a:spcBef>
              <a:spcAft>
                <a:spcPct val="0"/>
              </a:spcAft>
              <a:buFontTx/>
              <a:buChar char="•"/>
            </a:pPr>
            <a:r>
              <a:rPr lang="en-US" altLang="en-US" sz="1900" dirty="0">
                <a:latin typeface="Cambria" panose="02040503050406030204" pitchFamily="18" charset="0"/>
                <a:ea typeface="Cambria" panose="02040503050406030204" pitchFamily="18" charset="0"/>
              </a:rPr>
              <a:t>Records: Large-scale data</a:t>
            </a:r>
          </a:p>
          <a:p>
            <a:pPr marL="0" lvl="0" indent="0" eaLnBrk="0" fontAlgn="base" hangingPunct="0">
              <a:lnSpc>
                <a:spcPct val="100000"/>
              </a:lnSpc>
              <a:spcBef>
                <a:spcPct val="0"/>
              </a:spcBef>
              <a:spcAft>
                <a:spcPct val="0"/>
              </a:spcAft>
              <a:buNone/>
            </a:pPr>
            <a:endParaRPr lang="en-US" altLang="en-US" sz="1900" dirty="0">
              <a:latin typeface="Cambria" panose="02040503050406030204" pitchFamily="18" charset="0"/>
              <a:ea typeface="Cambria" panose="02040503050406030204" pitchFamily="18" charset="0"/>
            </a:endParaRPr>
          </a:p>
          <a:p>
            <a:pPr marL="0" lvl="0" indent="0" eaLnBrk="0" fontAlgn="base" hangingPunct="0">
              <a:lnSpc>
                <a:spcPct val="100000"/>
              </a:lnSpc>
              <a:spcBef>
                <a:spcPct val="0"/>
              </a:spcBef>
              <a:spcAft>
                <a:spcPct val="0"/>
              </a:spcAft>
              <a:buFontTx/>
              <a:buChar char="•"/>
            </a:pPr>
            <a:r>
              <a:rPr lang="en-US" altLang="en-US" sz="1900" dirty="0">
                <a:latin typeface="Cambria" panose="02040503050406030204" pitchFamily="18" charset="0"/>
                <a:ea typeface="Cambria" panose="02040503050406030204" pitchFamily="18" charset="0"/>
              </a:rPr>
              <a:t>Data used after </a:t>
            </a:r>
            <a:r>
              <a:rPr lang="en-US" altLang="en-US" sz="1900" b="1" dirty="0">
                <a:latin typeface="Cambria" panose="02040503050406030204" pitchFamily="18" charset="0"/>
                <a:ea typeface="Cambria" panose="02040503050406030204" pitchFamily="18" charset="0"/>
              </a:rPr>
              <a:t>cleaning &amp; preprocessing</a:t>
            </a:r>
            <a:endParaRPr lang="en-US" altLang="en-US" sz="1900" dirty="0">
              <a:latin typeface="Cambria" panose="02040503050406030204" pitchFamily="18" charset="0"/>
              <a:ea typeface="Cambria" panose="02040503050406030204" pitchFamily="18" charset="0"/>
            </a:endParaRPr>
          </a:p>
          <a:p>
            <a:endParaRPr lang="en-IN" sz="1800" dirty="0">
              <a:latin typeface="Cambria" panose="02040503050406030204" pitchFamily="18" charset="0"/>
              <a:ea typeface="Cambria" panose="02040503050406030204" pitchFamily="18" charset="0"/>
              <a:cs typeface="Arial" panose="020B0604020202020204" pitchFamily="34" charset="0"/>
            </a:endParaRPr>
          </a:p>
        </p:txBody>
      </p:sp>
      <p:sp>
        <p:nvSpPr>
          <p:cNvPr id="4" name="Slide Number Placeholder 3">
            <a:extLst>
              <a:ext uri="{FF2B5EF4-FFF2-40B4-BE49-F238E27FC236}">
                <a16:creationId xmlns:a16="http://schemas.microsoft.com/office/drawing/2014/main" id="{028454D5-CC6E-6C55-F58B-60B942BE745D}"/>
              </a:ext>
            </a:extLst>
          </p:cNvPr>
          <p:cNvSpPr>
            <a:spLocks noGrp="1"/>
          </p:cNvSpPr>
          <p:nvPr>
            <p:ph type="sldNum" sz="quarter" idx="12"/>
          </p:nvPr>
        </p:nvSpPr>
        <p:spPr/>
        <p:txBody>
          <a:bodyPr/>
          <a:lstStyle/>
          <a:p>
            <a:fld id="{B4A918BC-4D43-4B42-B3C0-E7EBE25E6AF0}" type="slidenum">
              <a:rPr lang="en-US" smtClean="0"/>
              <a:t>4</a:t>
            </a:fld>
            <a:endParaRPr lang="en-US"/>
          </a:p>
        </p:txBody>
      </p:sp>
    </p:spTree>
    <p:extLst>
      <p:ext uri="{BB962C8B-B14F-4D97-AF65-F5344CB8AC3E}">
        <p14:creationId xmlns:p14="http://schemas.microsoft.com/office/powerpoint/2010/main" val="2931802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65B2F-7BAD-71F4-3E52-7C4153A047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3F37D-0D2B-04A4-B514-7C4D18DC2090}"/>
              </a:ext>
            </a:extLst>
          </p:cNvPr>
          <p:cNvSpPr>
            <a:spLocks noGrp="1"/>
          </p:cNvSpPr>
          <p:nvPr>
            <p:ph type="title"/>
          </p:nvPr>
        </p:nvSpPr>
        <p:spPr>
          <a:xfrm>
            <a:off x="245335" y="180232"/>
            <a:ext cx="10380573" cy="842818"/>
          </a:xfrm>
        </p:spPr>
        <p:txBody>
          <a:bodyPr>
            <a:normAutofit fontScale="90000"/>
          </a:bodyPr>
          <a:lstStyle/>
          <a:p>
            <a:r>
              <a:rPr lang="en-US" b="1" dirty="0">
                <a:latin typeface="Cambria" panose="02040503050406030204" pitchFamily="18" charset="0"/>
                <a:ea typeface="Cambria" panose="02040503050406030204" pitchFamily="18" charset="0"/>
                <a:cs typeface="Arial" panose="020B0604020202020204" pitchFamily="34" charset="0"/>
              </a:rPr>
              <a:t>Data Cleaning &amp; Handling missing values</a:t>
            </a:r>
          </a:p>
        </p:txBody>
      </p:sp>
      <p:sp>
        <p:nvSpPr>
          <p:cNvPr id="7" name="Content Placeholder 6">
            <a:extLst>
              <a:ext uri="{FF2B5EF4-FFF2-40B4-BE49-F238E27FC236}">
                <a16:creationId xmlns:a16="http://schemas.microsoft.com/office/drawing/2014/main" id="{DD32382E-F467-9363-D416-FBA3D8A3298A}"/>
              </a:ext>
            </a:extLst>
          </p:cNvPr>
          <p:cNvSpPr>
            <a:spLocks noGrp="1"/>
          </p:cNvSpPr>
          <p:nvPr>
            <p:ph idx="1"/>
          </p:nvPr>
        </p:nvSpPr>
        <p:spPr>
          <a:xfrm>
            <a:off x="348844" y="1023050"/>
            <a:ext cx="10723969" cy="5120575"/>
          </a:xfrm>
        </p:spPr>
        <p:txBody>
          <a:bodyPr>
            <a:noAutofit/>
          </a:bodyPr>
          <a:lstStyle/>
          <a:p>
            <a:pPr marL="0" marR="0">
              <a:lnSpc>
                <a:spcPct val="115000"/>
              </a:lnSpc>
              <a:spcAft>
                <a:spcPts val="800"/>
              </a:spcAft>
              <a:buNone/>
            </a:pPr>
            <a:r>
              <a:rPr lang="en-US" sz="1600" b="1" kern="100" dirty="0">
                <a:latin typeface="Cambria" panose="02040503050406030204" pitchFamily="18" charset="0"/>
                <a:ea typeface="Calibri" panose="020F0502020204030204" pitchFamily="34" charset="0"/>
                <a:cs typeface="Times New Roman" panose="02020603050405020304" pitchFamily="18" charset="0"/>
              </a:rPr>
              <a:t>Cleaning Actions Performed</a:t>
            </a: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600" kern="100" dirty="0">
                <a:latin typeface="Cambria" panose="02040503050406030204" pitchFamily="18" charset="0"/>
                <a:ea typeface="Calibri" panose="020F0502020204030204" pitchFamily="34" charset="0"/>
                <a:cs typeface="Times New Roman" panose="02020603050405020304" pitchFamily="18" charset="0"/>
              </a:rPr>
              <a:t>Removed duplicate records</a:t>
            </a: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600" kern="100" dirty="0">
                <a:latin typeface="Cambria" panose="02040503050406030204" pitchFamily="18" charset="0"/>
                <a:ea typeface="Calibri" panose="020F0502020204030204" pitchFamily="34" charset="0"/>
                <a:cs typeface="Times New Roman" panose="02020603050405020304" pitchFamily="18" charset="0"/>
              </a:rPr>
              <a:t>Handled missing values in Engagement and Post data</a:t>
            </a: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600" kern="100" dirty="0">
                <a:latin typeface="Cambria" panose="02040503050406030204" pitchFamily="18" charset="0"/>
                <a:ea typeface="Calibri" panose="020F0502020204030204" pitchFamily="34" charset="0"/>
                <a:cs typeface="Times New Roman" panose="02020603050405020304" pitchFamily="18" charset="0"/>
              </a:rPr>
              <a:t>In the Engagement table found 8,876 null values, Removed Null Records using .</a:t>
            </a:r>
            <a:r>
              <a:rPr lang="en-US" sz="1600" b="1" kern="100" dirty="0" err="1">
                <a:latin typeface="Cambria" panose="02040503050406030204" pitchFamily="18" charset="0"/>
                <a:ea typeface="Calibri" panose="020F0502020204030204" pitchFamily="34" charset="0"/>
                <a:cs typeface="Times New Roman" panose="02020603050405020304" pitchFamily="18" charset="0"/>
              </a:rPr>
              <a:t>dropna</a:t>
            </a:r>
            <a:r>
              <a:rPr lang="en-US" sz="1600" kern="100" dirty="0">
                <a:latin typeface="Cambria" panose="02040503050406030204" pitchFamily="18" charset="0"/>
                <a:ea typeface="Calibri" panose="020F0502020204030204" pitchFamily="34" charset="0"/>
                <a:cs typeface="Times New Roman" panose="02020603050405020304" pitchFamily="18" charset="0"/>
              </a:rPr>
              <a:t>() function.</a:t>
            </a: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600" kern="100" dirty="0">
                <a:latin typeface="Cambria" panose="02040503050406030204" pitchFamily="18" charset="0"/>
                <a:ea typeface="Calibri" panose="020F0502020204030204" pitchFamily="34" charset="0"/>
                <a:cs typeface="Times New Roman" panose="02020603050405020304" pitchFamily="18" charset="0"/>
              </a:rPr>
              <a:t>In the Post table found 8,433 null values ,Removed </a:t>
            </a:r>
            <a:r>
              <a:rPr lang="en-US" sz="1600" kern="100" dirty="0" err="1">
                <a:latin typeface="Cambria" panose="02040503050406030204" pitchFamily="18" charset="0"/>
                <a:ea typeface="Calibri" panose="020F0502020204030204" pitchFamily="34" charset="0"/>
                <a:cs typeface="Times New Roman" panose="02020603050405020304" pitchFamily="18" charset="0"/>
              </a:rPr>
              <a:t>Removed</a:t>
            </a:r>
            <a:r>
              <a:rPr lang="en-US" sz="1600" kern="100" dirty="0">
                <a:latin typeface="Cambria" panose="02040503050406030204" pitchFamily="18" charset="0"/>
                <a:ea typeface="Calibri" panose="020F0502020204030204" pitchFamily="34" charset="0"/>
                <a:cs typeface="Times New Roman" panose="02020603050405020304" pitchFamily="18" charset="0"/>
              </a:rPr>
              <a:t> Null Records using .</a:t>
            </a:r>
            <a:r>
              <a:rPr lang="en-US" sz="1600" b="1" kern="100" dirty="0" err="1">
                <a:latin typeface="Cambria" panose="02040503050406030204" pitchFamily="18" charset="0"/>
                <a:ea typeface="Calibri" panose="020F0502020204030204" pitchFamily="34" charset="0"/>
                <a:cs typeface="Times New Roman" panose="02020603050405020304" pitchFamily="18" charset="0"/>
              </a:rPr>
              <a:t>dropna</a:t>
            </a:r>
            <a:r>
              <a:rPr lang="en-US" sz="1600" kern="100" dirty="0">
                <a:latin typeface="Cambria" panose="02040503050406030204" pitchFamily="18" charset="0"/>
                <a:ea typeface="Calibri" panose="020F0502020204030204" pitchFamily="34" charset="0"/>
                <a:cs typeface="Times New Roman" panose="02020603050405020304" pitchFamily="18" charset="0"/>
              </a:rPr>
              <a:t>() function</a:t>
            </a: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15000"/>
              </a:lnSpc>
              <a:spcAft>
                <a:spcPts val="800"/>
              </a:spcAft>
              <a:buSzPts val="1000"/>
              <a:buNone/>
              <a:tabLst>
                <a:tab pos="457200" algn="l"/>
              </a:tabLst>
            </a:pP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marL="0">
              <a:lnSpc>
                <a:spcPct val="115000"/>
              </a:lnSpc>
              <a:spcAft>
                <a:spcPts val="800"/>
              </a:spcAft>
              <a:buNone/>
            </a:pPr>
            <a:r>
              <a:rPr lang="en-US" sz="1600" b="1" kern="100" dirty="0">
                <a:latin typeface="Cambria" panose="02040503050406030204" pitchFamily="18" charset="0"/>
                <a:ea typeface="Calibri" panose="020F0502020204030204" pitchFamily="34" charset="0"/>
                <a:cs typeface="Times New Roman" panose="02020603050405020304" pitchFamily="18" charset="0"/>
              </a:rPr>
              <a:t>Cleaning Insight:</a:t>
            </a:r>
            <a:br>
              <a:rPr lang="en-US" sz="1600" kern="100" dirty="0">
                <a:latin typeface="Cambria" panose="02040503050406030204" pitchFamily="18" charset="0"/>
                <a:ea typeface="Calibri" panose="020F0502020204030204" pitchFamily="34" charset="0"/>
                <a:cs typeface="Times New Roman" panose="02020603050405020304" pitchFamily="18" charset="0"/>
              </a:rPr>
            </a:br>
            <a:r>
              <a:rPr lang="en-US" sz="1600" kern="100" dirty="0">
                <a:latin typeface="Cambria" panose="02040503050406030204" pitchFamily="18" charset="0"/>
                <a:ea typeface="Calibri" panose="020F0502020204030204" pitchFamily="34" charset="0"/>
                <a:cs typeface="Times New Roman" panose="02020603050405020304" pitchFamily="18" charset="0"/>
              </a:rPr>
              <a:t>This records were holding a space in both the datasets in a huge amount, so applied .</a:t>
            </a:r>
            <a:r>
              <a:rPr lang="en-US" sz="1600" kern="100" dirty="0" err="1">
                <a:latin typeface="Cambria" panose="02040503050406030204" pitchFamily="18" charset="0"/>
                <a:ea typeface="Calibri" panose="020F0502020204030204" pitchFamily="34" charset="0"/>
                <a:cs typeface="Times New Roman" panose="02020603050405020304" pitchFamily="18" charset="0"/>
              </a:rPr>
              <a:t>dropna</a:t>
            </a:r>
            <a:r>
              <a:rPr lang="en-US" sz="1600" kern="100" dirty="0">
                <a:latin typeface="Cambria" panose="02040503050406030204" pitchFamily="18" charset="0"/>
                <a:ea typeface="Calibri" panose="020F0502020204030204" pitchFamily="34" charset="0"/>
                <a:cs typeface="Times New Roman" panose="02020603050405020304" pitchFamily="18" charset="0"/>
              </a:rPr>
              <a:t>() to remove Null records to free up the space in the datasets</a:t>
            </a: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endParaRPr lang="en-IN" sz="16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9EC9D7B-28D2-1AE8-6C52-31A52C4E8CB7}"/>
              </a:ext>
            </a:extLst>
          </p:cNvPr>
          <p:cNvSpPr>
            <a:spLocks noGrp="1"/>
          </p:cNvSpPr>
          <p:nvPr>
            <p:ph type="sldNum" sz="quarter" idx="12"/>
          </p:nvPr>
        </p:nvSpPr>
        <p:spPr/>
        <p:txBody>
          <a:bodyPr/>
          <a:lstStyle/>
          <a:p>
            <a:fld id="{B4A918BC-4D43-4B42-B3C0-E7EBE25E6AF0}" type="slidenum">
              <a:rPr lang="en-US" smtClean="0"/>
              <a:t>5</a:t>
            </a:fld>
            <a:endParaRPr lang="en-US"/>
          </a:p>
        </p:txBody>
      </p:sp>
    </p:spTree>
    <p:extLst>
      <p:ext uri="{BB962C8B-B14F-4D97-AF65-F5344CB8AC3E}">
        <p14:creationId xmlns:p14="http://schemas.microsoft.com/office/powerpoint/2010/main" val="645448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734D33-88E2-F12E-C6C9-73B35D1F3B19}"/>
              </a:ext>
            </a:extLst>
          </p:cNvPr>
          <p:cNvSpPr>
            <a:spLocks noGrp="1"/>
          </p:cNvSpPr>
          <p:nvPr>
            <p:ph type="sldNum" sz="quarter" idx="12"/>
          </p:nvPr>
        </p:nvSpPr>
        <p:spPr/>
        <p:txBody>
          <a:bodyPr/>
          <a:lstStyle/>
          <a:p>
            <a:fld id="{B4A918BC-4D43-4B42-B3C0-E7EBE25E6AF0}" type="slidenum">
              <a:rPr lang="en-US" smtClean="0"/>
              <a:t>6</a:t>
            </a:fld>
            <a:endParaRPr lang="en-US"/>
          </a:p>
        </p:txBody>
      </p:sp>
      <p:sp>
        <p:nvSpPr>
          <p:cNvPr id="9" name="TextBox 8">
            <a:extLst>
              <a:ext uri="{FF2B5EF4-FFF2-40B4-BE49-F238E27FC236}">
                <a16:creationId xmlns:a16="http://schemas.microsoft.com/office/drawing/2014/main" id="{CE117CA8-AAAB-9D28-3EC1-A30F1DF751A7}"/>
              </a:ext>
            </a:extLst>
          </p:cNvPr>
          <p:cNvSpPr txBox="1"/>
          <p:nvPr/>
        </p:nvSpPr>
        <p:spPr>
          <a:xfrm>
            <a:off x="5679281" y="502504"/>
            <a:ext cx="6093618" cy="830997"/>
          </a:xfrm>
          <a:prstGeom prst="rect">
            <a:avLst/>
          </a:prstGeom>
          <a:noFill/>
        </p:spPr>
        <p:txBody>
          <a:bodyPr wrap="square">
            <a:spAutoFit/>
          </a:bodyPr>
          <a:lstStyle/>
          <a:p>
            <a:r>
              <a:rPr lang="en-US" sz="1600" dirty="0">
                <a:latin typeface="Cambria" panose="02040503050406030204" pitchFamily="18" charset="0"/>
                <a:ea typeface="Cambria" panose="02040503050406030204" pitchFamily="18" charset="0"/>
              </a:rPr>
              <a:t>The output highlights that even creators with fewer followers can achieve similar engagement levels, which is important for understanding platform dynamics and audience reach.</a:t>
            </a:r>
          </a:p>
        </p:txBody>
      </p:sp>
      <p:sp>
        <p:nvSpPr>
          <p:cNvPr id="10" name="Arrow: Left-Up 9">
            <a:extLst>
              <a:ext uri="{FF2B5EF4-FFF2-40B4-BE49-F238E27FC236}">
                <a16:creationId xmlns:a16="http://schemas.microsoft.com/office/drawing/2014/main" id="{2CC6C813-3C01-1206-E9A5-A4146BFF0E69}"/>
              </a:ext>
            </a:extLst>
          </p:cNvPr>
          <p:cNvSpPr/>
          <p:nvPr/>
        </p:nvSpPr>
        <p:spPr>
          <a:xfrm>
            <a:off x="5679281" y="2039035"/>
            <a:ext cx="585787" cy="485775"/>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7B5481C-4799-D42E-D101-6C447FB17010}"/>
              </a:ext>
            </a:extLst>
          </p:cNvPr>
          <p:cNvSpPr txBox="1"/>
          <p:nvPr/>
        </p:nvSpPr>
        <p:spPr>
          <a:xfrm>
            <a:off x="391138" y="4244482"/>
            <a:ext cx="3879058" cy="1384995"/>
          </a:xfrm>
          <a:prstGeom prst="rect">
            <a:avLst/>
          </a:prstGeom>
          <a:noFill/>
        </p:spPr>
        <p:txBody>
          <a:bodyPr wrap="square">
            <a:spAutoFit/>
          </a:bodyPr>
          <a:lstStyle/>
          <a:p>
            <a:r>
              <a:rPr lang="en-US" sz="1400" dirty="0">
                <a:latin typeface="Cambria" panose="02040503050406030204" pitchFamily="18" charset="0"/>
                <a:ea typeface="Cambria" panose="02040503050406030204" pitchFamily="18" charset="0"/>
              </a:rPr>
              <a:t>This consistency suggests that Instagram image posts in this sample perform at a stable engagement level.</a:t>
            </a:r>
          </a:p>
          <a:p>
            <a:r>
              <a:rPr lang="en-US" sz="1400" dirty="0">
                <a:latin typeface="Cambria" panose="02040503050406030204" pitchFamily="18" charset="0"/>
                <a:ea typeface="Cambria" panose="02040503050406030204" pitchFamily="18" charset="0"/>
              </a:rPr>
              <a:t>Follower counts vary more widely (from 1 to 14), showing differences in creator popularity even though engagement metrics remain similar.</a:t>
            </a:r>
          </a:p>
        </p:txBody>
      </p:sp>
      <p:sp>
        <p:nvSpPr>
          <p:cNvPr id="14" name="Arrow: Left 13">
            <a:extLst>
              <a:ext uri="{FF2B5EF4-FFF2-40B4-BE49-F238E27FC236}">
                <a16:creationId xmlns:a16="http://schemas.microsoft.com/office/drawing/2014/main" id="{D0668CDB-990E-FCF5-CAF9-99BF30165B0D}"/>
              </a:ext>
            </a:extLst>
          </p:cNvPr>
          <p:cNvSpPr/>
          <p:nvPr/>
        </p:nvSpPr>
        <p:spPr>
          <a:xfrm>
            <a:off x="5171960" y="4437472"/>
            <a:ext cx="273844" cy="221318"/>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F7613AFD-48BC-E760-7FA3-B55D4EE75D5D}"/>
              </a:ext>
            </a:extLst>
          </p:cNvPr>
          <p:cNvPicPr>
            <a:picLocks noChangeAspect="1"/>
          </p:cNvPicPr>
          <p:nvPr/>
        </p:nvPicPr>
        <p:blipFill>
          <a:blip r:embed="rId2"/>
          <a:stretch>
            <a:fillRect/>
          </a:stretch>
        </p:blipFill>
        <p:spPr>
          <a:xfrm>
            <a:off x="67907" y="754712"/>
            <a:ext cx="5377897" cy="2257425"/>
          </a:xfrm>
          <a:prstGeom prst="rect">
            <a:avLst/>
          </a:prstGeom>
        </p:spPr>
      </p:pic>
      <p:pic>
        <p:nvPicPr>
          <p:cNvPr id="16" name="Picture 15">
            <a:extLst>
              <a:ext uri="{FF2B5EF4-FFF2-40B4-BE49-F238E27FC236}">
                <a16:creationId xmlns:a16="http://schemas.microsoft.com/office/drawing/2014/main" id="{60591CFA-8BAD-5A87-AA2B-94480E2F02E7}"/>
              </a:ext>
            </a:extLst>
          </p:cNvPr>
          <p:cNvPicPr>
            <a:picLocks noChangeAspect="1"/>
          </p:cNvPicPr>
          <p:nvPr/>
        </p:nvPicPr>
        <p:blipFill>
          <a:blip r:embed="rId3"/>
          <a:stretch>
            <a:fillRect/>
          </a:stretch>
        </p:blipFill>
        <p:spPr>
          <a:xfrm>
            <a:off x="6096000" y="3078505"/>
            <a:ext cx="5524500" cy="2238375"/>
          </a:xfrm>
          <a:prstGeom prst="rect">
            <a:avLst/>
          </a:prstGeom>
        </p:spPr>
      </p:pic>
    </p:spTree>
    <p:extLst>
      <p:ext uri="{BB962C8B-B14F-4D97-AF65-F5344CB8AC3E}">
        <p14:creationId xmlns:p14="http://schemas.microsoft.com/office/powerpoint/2010/main" val="4171185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83BE7-13B9-0EB7-FB40-E52D73A567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FE113-00B5-A99C-A6F6-74255F640CA2}"/>
              </a:ext>
            </a:extLst>
          </p:cNvPr>
          <p:cNvSpPr>
            <a:spLocks noGrp="1"/>
          </p:cNvSpPr>
          <p:nvPr>
            <p:ph type="title"/>
          </p:nvPr>
        </p:nvSpPr>
        <p:spPr>
          <a:xfrm>
            <a:off x="3143250" y="176194"/>
            <a:ext cx="4942285" cy="635000"/>
          </a:xfrm>
        </p:spPr>
        <p:txBody>
          <a:bodyPr>
            <a:noAutofit/>
          </a:bodyPr>
          <a:lstStyle/>
          <a:p>
            <a:r>
              <a:rPr lang="en-IN" b="1" dirty="0">
                <a:latin typeface="Cambria" panose="02040503050406030204" pitchFamily="18" charset="0"/>
                <a:ea typeface="Cambria" panose="02040503050406030204" pitchFamily="18" charset="0"/>
              </a:rPr>
              <a:t>Platform Analysis </a:t>
            </a:r>
          </a:p>
        </p:txBody>
      </p:sp>
      <p:sp>
        <p:nvSpPr>
          <p:cNvPr id="4" name="Slide Number Placeholder 3">
            <a:extLst>
              <a:ext uri="{FF2B5EF4-FFF2-40B4-BE49-F238E27FC236}">
                <a16:creationId xmlns:a16="http://schemas.microsoft.com/office/drawing/2014/main" id="{21DC8D39-AAED-3B95-1D9B-AFFBBAE10919}"/>
              </a:ext>
            </a:extLst>
          </p:cNvPr>
          <p:cNvSpPr>
            <a:spLocks noGrp="1"/>
          </p:cNvSpPr>
          <p:nvPr>
            <p:ph type="sldNum" sz="quarter" idx="12"/>
          </p:nvPr>
        </p:nvSpPr>
        <p:spPr/>
        <p:txBody>
          <a:bodyPr/>
          <a:lstStyle/>
          <a:p>
            <a:fld id="{B4A918BC-4D43-4B42-B3C0-E7EBE25E6AF0}" type="slidenum">
              <a:rPr lang="en-US" smtClean="0"/>
              <a:t>7</a:t>
            </a:fld>
            <a:endParaRPr lang="en-US" dirty="0"/>
          </a:p>
        </p:txBody>
      </p:sp>
      <p:sp>
        <p:nvSpPr>
          <p:cNvPr id="8" name="TextBox 7">
            <a:extLst>
              <a:ext uri="{FF2B5EF4-FFF2-40B4-BE49-F238E27FC236}">
                <a16:creationId xmlns:a16="http://schemas.microsoft.com/office/drawing/2014/main" id="{16CE9415-7646-2EE3-6171-62FCCFF1840A}"/>
              </a:ext>
            </a:extLst>
          </p:cNvPr>
          <p:cNvSpPr txBox="1"/>
          <p:nvPr/>
        </p:nvSpPr>
        <p:spPr>
          <a:xfrm>
            <a:off x="6272213" y="1028572"/>
            <a:ext cx="5860256" cy="2262158"/>
          </a:xfrm>
          <a:prstGeom prst="rect">
            <a:avLst/>
          </a:prstGeom>
          <a:noFill/>
        </p:spPr>
        <p:txBody>
          <a:bodyPr wrap="square">
            <a:spAutoFit/>
          </a:bodyPr>
          <a:lstStyle/>
          <a:p>
            <a:pPr algn="just">
              <a:lnSpc>
                <a:spcPts val="4211"/>
              </a:lnSpc>
            </a:pPr>
            <a:r>
              <a:rPr lang="en-US" dirty="0">
                <a:solidFill>
                  <a:srgbClr val="343434"/>
                </a:solidFill>
                <a:latin typeface="TT Hoves"/>
                <a:ea typeface="TT Hoves"/>
                <a:cs typeface="TT Hoves"/>
                <a:sym typeface="TT Hoves"/>
              </a:rPr>
              <a:t>Follower Distribution:</a:t>
            </a:r>
          </a:p>
          <a:p>
            <a:pPr algn="just">
              <a:lnSpc>
                <a:spcPts val="3587"/>
              </a:lnSpc>
            </a:pPr>
            <a:r>
              <a:rPr lang="en-US" sz="1600" dirty="0">
                <a:solidFill>
                  <a:srgbClr val="343434"/>
                </a:solidFill>
                <a:latin typeface="Cambria" panose="02040503050406030204" pitchFamily="18" charset="0"/>
                <a:ea typeface="Cambria" panose="02040503050406030204" pitchFamily="18" charset="0"/>
                <a:cs typeface="TT Hoves"/>
                <a:sym typeface="TT Hoves"/>
              </a:rPr>
              <a:t>Followers are spread evenly across platforms, with </a:t>
            </a:r>
            <a:r>
              <a:rPr lang="en-US" sz="1600" dirty="0" err="1">
                <a:solidFill>
                  <a:srgbClr val="343434"/>
                </a:solidFill>
                <a:latin typeface="Cambria" panose="02040503050406030204" pitchFamily="18" charset="0"/>
                <a:ea typeface="Cambria" panose="02040503050406030204" pitchFamily="18" charset="0"/>
                <a:cs typeface="TT Hoves"/>
                <a:sym typeface="TT Hoves"/>
              </a:rPr>
              <a:t>Bilibili</a:t>
            </a:r>
            <a:r>
              <a:rPr lang="en-US" sz="1600" dirty="0">
                <a:solidFill>
                  <a:srgbClr val="343434"/>
                </a:solidFill>
                <a:latin typeface="Cambria" panose="02040503050406030204" pitchFamily="18" charset="0"/>
                <a:ea typeface="Cambria" panose="02040503050406030204" pitchFamily="18" charset="0"/>
                <a:cs typeface="TT Hoves"/>
                <a:sym typeface="TT Hoves"/>
              </a:rPr>
              <a:t> (20.9%), </a:t>
            </a:r>
            <a:r>
              <a:rPr lang="en-US" sz="1600" dirty="0" err="1">
                <a:solidFill>
                  <a:srgbClr val="343434"/>
                </a:solidFill>
                <a:latin typeface="Cambria" panose="02040503050406030204" pitchFamily="18" charset="0"/>
                <a:ea typeface="Cambria" panose="02040503050406030204" pitchFamily="18" charset="0"/>
                <a:cs typeface="TT Hoves"/>
                <a:sym typeface="TT Hoves"/>
              </a:rPr>
              <a:t>RedNote</a:t>
            </a:r>
            <a:r>
              <a:rPr lang="en-US" sz="1600" dirty="0">
                <a:solidFill>
                  <a:srgbClr val="343434"/>
                </a:solidFill>
                <a:latin typeface="Cambria" panose="02040503050406030204" pitchFamily="18" charset="0"/>
                <a:ea typeface="Cambria" panose="02040503050406030204" pitchFamily="18" charset="0"/>
                <a:cs typeface="TT Hoves"/>
                <a:sym typeface="TT Hoves"/>
              </a:rPr>
              <a:t> (20.6%), YouTube (20.3%), and Instagram (20%) leading. TikTok trails slightly at 18.2%.</a:t>
            </a:r>
          </a:p>
          <a:p>
            <a:endParaRPr lang="en-US" sz="16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3FC087B1-F6CC-8CE1-9B43-5C4870C8BA53}"/>
              </a:ext>
            </a:extLst>
          </p:cNvPr>
          <p:cNvSpPr txBox="1"/>
          <p:nvPr/>
        </p:nvSpPr>
        <p:spPr>
          <a:xfrm>
            <a:off x="59531" y="3999379"/>
            <a:ext cx="6093618" cy="2308324"/>
          </a:xfrm>
          <a:prstGeom prst="rect">
            <a:avLst/>
          </a:prstGeom>
          <a:noFill/>
        </p:spPr>
        <p:txBody>
          <a:bodyPr wrap="square">
            <a:spAutoFit/>
          </a:bodyPr>
          <a:lstStyle/>
          <a:p>
            <a:r>
              <a:rPr lang="en-US" sz="1600" dirty="0">
                <a:latin typeface="Cambria" panose="02040503050406030204" pitchFamily="18" charset="0"/>
                <a:ea typeface="Cambria" panose="02040503050406030204" pitchFamily="18" charset="0"/>
              </a:rPr>
              <a:t>The line chart illustrates average follower counts across platforms from 2023 to 2025. </a:t>
            </a:r>
            <a:r>
              <a:rPr lang="en-US" sz="1600" dirty="0" err="1">
                <a:latin typeface="Cambria" panose="02040503050406030204" pitchFamily="18" charset="0"/>
                <a:ea typeface="Cambria" panose="02040503050406030204" pitchFamily="18" charset="0"/>
              </a:rPr>
              <a:t>RedNote</a:t>
            </a:r>
            <a:r>
              <a:rPr lang="en-US" sz="1600" dirty="0">
                <a:latin typeface="Cambria" panose="02040503050406030204" pitchFamily="18" charset="0"/>
                <a:ea typeface="Cambria" panose="02040503050406030204" pitchFamily="18" charset="0"/>
              </a:rPr>
              <a:t> emerges as the strongest performer, peaking at ~510K followers and maintaining that level. Instagram and YouTube show moderate growth, rising from ~490K to ~500K before stabilizing. In contrast, </a:t>
            </a:r>
            <a:r>
              <a:rPr lang="en-US" sz="1600" dirty="0" err="1">
                <a:latin typeface="Cambria" panose="02040503050406030204" pitchFamily="18" charset="0"/>
                <a:ea typeface="Cambria" panose="02040503050406030204" pitchFamily="18" charset="0"/>
              </a:rPr>
              <a:t>Bilibili</a:t>
            </a:r>
            <a:r>
              <a:rPr lang="en-US" sz="1600" dirty="0">
                <a:latin typeface="Cambria" panose="02040503050406030204" pitchFamily="18" charset="0"/>
                <a:ea typeface="Cambria" panose="02040503050406030204" pitchFamily="18" charset="0"/>
              </a:rPr>
              <a:t> and TikTok remain flat at ~490K, indicating stagnant growth. Overall, the chart highlights that while some platforms experience expansion, follower counts tend to plateau by 2025, reflecting market saturation and stabilized audience engagement.</a:t>
            </a:r>
          </a:p>
        </p:txBody>
      </p:sp>
      <p:sp>
        <p:nvSpPr>
          <p:cNvPr id="17" name="Arrow: Left-Up 16">
            <a:extLst>
              <a:ext uri="{FF2B5EF4-FFF2-40B4-BE49-F238E27FC236}">
                <a16:creationId xmlns:a16="http://schemas.microsoft.com/office/drawing/2014/main" id="{2768C34F-4A97-B77B-AE17-2029C9CAB497}"/>
              </a:ext>
            </a:extLst>
          </p:cNvPr>
          <p:cNvSpPr/>
          <p:nvPr/>
        </p:nvSpPr>
        <p:spPr>
          <a:xfrm>
            <a:off x="5753875" y="2159651"/>
            <a:ext cx="518338" cy="440674"/>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Left-Up 17">
            <a:extLst>
              <a:ext uri="{FF2B5EF4-FFF2-40B4-BE49-F238E27FC236}">
                <a16:creationId xmlns:a16="http://schemas.microsoft.com/office/drawing/2014/main" id="{EC14B8EE-47C7-1397-597B-E10A01F60656}"/>
              </a:ext>
            </a:extLst>
          </p:cNvPr>
          <p:cNvSpPr/>
          <p:nvPr/>
        </p:nvSpPr>
        <p:spPr>
          <a:xfrm rot="5400000">
            <a:off x="5620950" y="6004430"/>
            <a:ext cx="584775" cy="523908"/>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3AB24DEF-158E-BE4C-CAE8-61DB3961CD46}"/>
              </a:ext>
            </a:extLst>
          </p:cNvPr>
          <p:cNvPicPr>
            <a:picLocks noChangeAspect="1"/>
          </p:cNvPicPr>
          <p:nvPr/>
        </p:nvPicPr>
        <p:blipFill>
          <a:blip r:embed="rId2"/>
          <a:stretch>
            <a:fillRect/>
          </a:stretch>
        </p:blipFill>
        <p:spPr>
          <a:xfrm>
            <a:off x="482785" y="811194"/>
            <a:ext cx="4942284" cy="2993890"/>
          </a:xfrm>
          <a:prstGeom prst="rect">
            <a:avLst/>
          </a:prstGeom>
        </p:spPr>
      </p:pic>
      <p:pic>
        <p:nvPicPr>
          <p:cNvPr id="5" name="Picture 4">
            <a:extLst>
              <a:ext uri="{FF2B5EF4-FFF2-40B4-BE49-F238E27FC236}">
                <a16:creationId xmlns:a16="http://schemas.microsoft.com/office/drawing/2014/main" id="{EBAD1A1D-2D1B-B01C-20BE-F14AC235646D}"/>
              </a:ext>
            </a:extLst>
          </p:cNvPr>
          <p:cNvPicPr>
            <a:picLocks noChangeAspect="1"/>
          </p:cNvPicPr>
          <p:nvPr/>
        </p:nvPicPr>
        <p:blipFill>
          <a:blip r:embed="rId3"/>
          <a:stretch>
            <a:fillRect/>
          </a:stretch>
        </p:blipFill>
        <p:spPr>
          <a:xfrm>
            <a:off x="6272213" y="3567271"/>
            <a:ext cx="5860256" cy="2981325"/>
          </a:xfrm>
          <a:prstGeom prst="rect">
            <a:avLst/>
          </a:prstGeom>
        </p:spPr>
      </p:pic>
    </p:spTree>
    <p:extLst>
      <p:ext uri="{BB962C8B-B14F-4D97-AF65-F5344CB8AC3E}">
        <p14:creationId xmlns:p14="http://schemas.microsoft.com/office/powerpoint/2010/main" val="1472614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60EC2A-5216-80CE-CAE2-6EAD4E052003}"/>
              </a:ext>
            </a:extLst>
          </p:cNvPr>
          <p:cNvSpPr>
            <a:spLocks noGrp="1"/>
          </p:cNvSpPr>
          <p:nvPr>
            <p:ph type="sldNum" sz="quarter" idx="12"/>
          </p:nvPr>
        </p:nvSpPr>
        <p:spPr/>
        <p:txBody>
          <a:bodyPr/>
          <a:lstStyle/>
          <a:p>
            <a:fld id="{B4A918BC-4D43-4B42-B3C0-E7EBE25E6AF0}" type="slidenum">
              <a:rPr lang="en-US" smtClean="0"/>
              <a:t>8</a:t>
            </a:fld>
            <a:endParaRPr lang="en-US"/>
          </a:p>
        </p:txBody>
      </p:sp>
      <p:sp>
        <p:nvSpPr>
          <p:cNvPr id="11" name="TextBox 10">
            <a:extLst>
              <a:ext uri="{FF2B5EF4-FFF2-40B4-BE49-F238E27FC236}">
                <a16:creationId xmlns:a16="http://schemas.microsoft.com/office/drawing/2014/main" id="{2E3535F4-8D72-3168-51CB-26E3ECC69817}"/>
              </a:ext>
            </a:extLst>
          </p:cNvPr>
          <p:cNvSpPr txBox="1"/>
          <p:nvPr/>
        </p:nvSpPr>
        <p:spPr>
          <a:xfrm>
            <a:off x="6096000" y="1238487"/>
            <a:ext cx="6093618" cy="1323439"/>
          </a:xfrm>
          <a:prstGeom prst="rect">
            <a:avLst/>
          </a:prstGeom>
          <a:noFill/>
        </p:spPr>
        <p:txBody>
          <a:bodyPr wrap="square">
            <a:spAutoFit/>
          </a:bodyPr>
          <a:lstStyle/>
          <a:p>
            <a:r>
              <a:rPr lang="en-US" sz="1600" dirty="0">
                <a:latin typeface="Cambria" panose="02040503050406030204" pitchFamily="18" charset="0"/>
                <a:ea typeface="Cambria" panose="02040503050406030204" pitchFamily="18" charset="0"/>
              </a:rPr>
              <a:t>The scatter plot illustrates the relationship between maximum views and maximum likes, with data points clustered between ~10,000 views and ~1,500 likes. The positive correlation indicates that as views increase, likes also rise proportionally, highlighting a strong link between reach and engagement.</a:t>
            </a:r>
          </a:p>
        </p:txBody>
      </p:sp>
      <p:sp>
        <p:nvSpPr>
          <p:cNvPr id="12" name="Arrow: Left-Up 11">
            <a:extLst>
              <a:ext uri="{FF2B5EF4-FFF2-40B4-BE49-F238E27FC236}">
                <a16:creationId xmlns:a16="http://schemas.microsoft.com/office/drawing/2014/main" id="{5F7116D3-903E-941D-2F76-2FBC3E8AD95A}"/>
              </a:ext>
            </a:extLst>
          </p:cNvPr>
          <p:cNvSpPr/>
          <p:nvPr/>
        </p:nvSpPr>
        <p:spPr>
          <a:xfrm>
            <a:off x="5807868" y="2682661"/>
            <a:ext cx="576264" cy="388015"/>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ECC164BD-373E-47AE-8179-3230F9EE94A5}"/>
              </a:ext>
            </a:extLst>
          </p:cNvPr>
          <p:cNvSpPr txBox="1"/>
          <p:nvPr/>
        </p:nvSpPr>
        <p:spPr>
          <a:xfrm>
            <a:off x="376853" y="4433393"/>
            <a:ext cx="6093618" cy="1323439"/>
          </a:xfrm>
          <a:prstGeom prst="rect">
            <a:avLst/>
          </a:prstGeom>
          <a:noFill/>
        </p:spPr>
        <p:txBody>
          <a:bodyPr wrap="square">
            <a:spAutoFit/>
          </a:bodyPr>
          <a:lstStyle/>
          <a:p>
            <a:r>
              <a:rPr lang="en-US" sz="1600" dirty="0">
                <a:latin typeface="Cambria" panose="02040503050406030204" pitchFamily="18" charset="0"/>
                <a:ea typeface="Cambria" panose="02040503050406030204" pitchFamily="18" charset="0"/>
              </a:rPr>
              <a:t>Video is the most engaging format: Audiences are more likely to share videos, and creators tend to produce longer video content.</a:t>
            </a:r>
          </a:p>
          <a:p>
            <a:r>
              <a:rPr lang="en-US" sz="1600" dirty="0">
                <a:latin typeface="Cambria" panose="02040503050406030204" pitchFamily="18" charset="0"/>
                <a:ea typeface="Cambria" panose="02040503050406030204" pitchFamily="18" charset="0"/>
              </a:rPr>
              <a:t>Images perform reasonably well, but not at the same scale as videos.</a:t>
            </a:r>
          </a:p>
          <a:p>
            <a:r>
              <a:rPr lang="en-US" sz="1600" dirty="0">
                <a:latin typeface="Cambria" panose="02040503050406030204" pitchFamily="18" charset="0"/>
                <a:ea typeface="Cambria" panose="02040503050406030204" pitchFamily="18" charset="0"/>
              </a:rPr>
              <a:t>Mixed and text formats struggle to generate shares, indicating lower audience preference or limited reach.</a:t>
            </a:r>
          </a:p>
        </p:txBody>
      </p:sp>
      <p:sp>
        <p:nvSpPr>
          <p:cNvPr id="15" name="Arrow: Left-Up 14">
            <a:extLst>
              <a:ext uri="{FF2B5EF4-FFF2-40B4-BE49-F238E27FC236}">
                <a16:creationId xmlns:a16="http://schemas.microsoft.com/office/drawing/2014/main" id="{581B748E-3231-3587-1767-1947BA5D3D17}"/>
              </a:ext>
            </a:extLst>
          </p:cNvPr>
          <p:cNvSpPr/>
          <p:nvPr/>
        </p:nvSpPr>
        <p:spPr>
          <a:xfrm rot="5400000">
            <a:off x="5791707" y="5522455"/>
            <a:ext cx="584775" cy="600075"/>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8B9EA051-F248-8C2D-48C6-F2914BAD3862}"/>
              </a:ext>
            </a:extLst>
          </p:cNvPr>
          <p:cNvSpPr txBox="1">
            <a:spLocks/>
          </p:cNvSpPr>
          <p:nvPr/>
        </p:nvSpPr>
        <p:spPr>
          <a:xfrm>
            <a:off x="3143250" y="176194"/>
            <a:ext cx="5971253" cy="6350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latin typeface="Cambria" panose="02040503050406030204" pitchFamily="18" charset="0"/>
                <a:ea typeface="Cambria" panose="02040503050406030204" pitchFamily="18" charset="0"/>
              </a:rPr>
              <a:t>Engagement Insights </a:t>
            </a:r>
          </a:p>
        </p:txBody>
      </p:sp>
      <p:pic>
        <p:nvPicPr>
          <p:cNvPr id="4" name="Picture 3">
            <a:extLst>
              <a:ext uri="{FF2B5EF4-FFF2-40B4-BE49-F238E27FC236}">
                <a16:creationId xmlns:a16="http://schemas.microsoft.com/office/drawing/2014/main" id="{84218B99-D3E9-59B9-B471-299C2F29EAD9}"/>
              </a:ext>
            </a:extLst>
          </p:cNvPr>
          <p:cNvPicPr>
            <a:picLocks noChangeAspect="1"/>
          </p:cNvPicPr>
          <p:nvPr/>
        </p:nvPicPr>
        <p:blipFill>
          <a:blip r:embed="rId2"/>
          <a:stretch>
            <a:fillRect/>
          </a:stretch>
        </p:blipFill>
        <p:spPr>
          <a:xfrm>
            <a:off x="528506" y="1036381"/>
            <a:ext cx="5058562" cy="3171825"/>
          </a:xfrm>
          <a:prstGeom prst="rect">
            <a:avLst/>
          </a:prstGeom>
        </p:spPr>
      </p:pic>
      <p:pic>
        <p:nvPicPr>
          <p:cNvPr id="6" name="Picture 5">
            <a:extLst>
              <a:ext uri="{FF2B5EF4-FFF2-40B4-BE49-F238E27FC236}">
                <a16:creationId xmlns:a16="http://schemas.microsoft.com/office/drawing/2014/main" id="{DC94EE23-8792-E671-A043-47B239573089}"/>
              </a:ext>
            </a:extLst>
          </p:cNvPr>
          <p:cNvPicPr>
            <a:picLocks noChangeAspect="1"/>
          </p:cNvPicPr>
          <p:nvPr/>
        </p:nvPicPr>
        <p:blipFill>
          <a:blip r:embed="rId3"/>
          <a:stretch>
            <a:fillRect/>
          </a:stretch>
        </p:blipFill>
        <p:spPr>
          <a:xfrm>
            <a:off x="7079497" y="3317875"/>
            <a:ext cx="4371475" cy="3038475"/>
          </a:xfrm>
          <a:prstGeom prst="rect">
            <a:avLst/>
          </a:prstGeom>
        </p:spPr>
      </p:pic>
    </p:spTree>
    <p:extLst>
      <p:ext uri="{BB962C8B-B14F-4D97-AF65-F5344CB8AC3E}">
        <p14:creationId xmlns:p14="http://schemas.microsoft.com/office/powerpoint/2010/main" val="3114438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E308CB-D72C-61CE-41EB-FDB37822DE53}"/>
              </a:ext>
            </a:extLst>
          </p:cNvPr>
          <p:cNvSpPr>
            <a:spLocks noGrp="1"/>
          </p:cNvSpPr>
          <p:nvPr>
            <p:ph type="sldNum" sz="quarter" idx="12"/>
          </p:nvPr>
        </p:nvSpPr>
        <p:spPr/>
        <p:txBody>
          <a:bodyPr/>
          <a:lstStyle/>
          <a:p>
            <a:fld id="{B4A918BC-4D43-4B42-B3C0-E7EBE25E6AF0}" type="slidenum">
              <a:rPr lang="en-US" smtClean="0"/>
              <a:t>9</a:t>
            </a:fld>
            <a:endParaRPr lang="en-US"/>
          </a:p>
        </p:txBody>
      </p:sp>
      <p:sp>
        <p:nvSpPr>
          <p:cNvPr id="10" name="TextBox 9">
            <a:extLst>
              <a:ext uri="{FF2B5EF4-FFF2-40B4-BE49-F238E27FC236}">
                <a16:creationId xmlns:a16="http://schemas.microsoft.com/office/drawing/2014/main" id="{7E1E556E-284F-B133-EE3A-41EAE48088D3}"/>
              </a:ext>
            </a:extLst>
          </p:cNvPr>
          <p:cNvSpPr txBox="1"/>
          <p:nvPr/>
        </p:nvSpPr>
        <p:spPr>
          <a:xfrm>
            <a:off x="5591582" y="1183999"/>
            <a:ext cx="6093618" cy="1569660"/>
          </a:xfrm>
          <a:prstGeom prst="rect">
            <a:avLst/>
          </a:prstGeom>
          <a:noFill/>
        </p:spPr>
        <p:txBody>
          <a:bodyPr wrap="square">
            <a:spAutoFit/>
          </a:bodyPr>
          <a:lstStyle/>
          <a:p>
            <a:r>
              <a:rPr lang="en-US" sz="1600" dirty="0">
                <a:latin typeface="Cambria" panose="02040503050406030204" pitchFamily="18" charset="0"/>
                <a:ea typeface="Cambria" panose="02040503050406030204" pitchFamily="18" charset="0"/>
              </a:rPr>
              <a:t>The clustered chart suggests that Western countries (USA, Germany, Brazil, UK) provide a stronger foundation for follower growth, making them key markets for content creators.</a:t>
            </a:r>
          </a:p>
          <a:p>
            <a:r>
              <a:rPr lang="en-US" sz="1600" dirty="0">
                <a:latin typeface="Cambria" panose="02040503050406030204" pitchFamily="18" charset="0"/>
                <a:ea typeface="Cambria" panose="02040503050406030204" pitchFamily="18" charset="0"/>
              </a:rPr>
              <a:t>The chart emphasizes that audience location matters: creators in certain regions start with a higher baseline of followers, which can influence overall engagement and reach.</a:t>
            </a:r>
          </a:p>
        </p:txBody>
      </p:sp>
      <p:sp>
        <p:nvSpPr>
          <p:cNvPr id="11" name="Arrow: Left-Up 10">
            <a:extLst>
              <a:ext uri="{FF2B5EF4-FFF2-40B4-BE49-F238E27FC236}">
                <a16:creationId xmlns:a16="http://schemas.microsoft.com/office/drawing/2014/main" id="{CB2D0D50-DD5C-9A13-20FA-0EB565F0C596}"/>
              </a:ext>
            </a:extLst>
          </p:cNvPr>
          <p:cNvSpPr/>
          <p:nvPr/>
        </p:nvSpPr>
        <p:spPr>
          <a:xfrm>
            <a:off x="5591582" y="2852529"/>
            <a:ext cx="411798" cy="271463"/>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7277F31-A263-9E9F-9182-F4F15342DB39}"/>
              </a:ext>
            </a:extLst>
          </p:cNvPr>
          <p:cNvSpPr txBox="1"/>
          <p:nvPr/>
        </p:nvSpPr>
        <p:spPr>
          <a:xfrm>
            <a:off x="114300" y="4526385"/>
            <a:ext cx="5033807" cy="1077218"/>
          </a:xfrm>
          <a:prstGeom prst="rect">
            <a:avLst/>
          </a:prstGeom>
          <a:noFill/>
        </p:spPr>
        <p:txBody>
          <a:bodyPr wrap="square">
            <a:spAutoFit/>
          </a:bodyPr>
          <a:lstStyle/>
          <a:p>
            <a:r>
              <a:rPr lang="en-US" sz="1600" dirty="0">
                <a:latin typeface="Cambria" panose="02040503050406030204" pitchFamily="18" charset="0"/>
                <a:ea typeface="Cambria" panose="02040503050406030204" pitchFamily="18" charset="0"/>
              </a:rPr>
              <a:t>The data implies that audience engagement is consistent across demographic categories — gender, age, and location do not appear to influence average views, likes, or shares..</a:t>
            </a:r>
          </a:p>
        </p:txBody>
      </p:sp>
      <p:sp>
        <p:nvSpPr>
          <p:cNvPr id="14" name="Arrow: Left-Up 13">
            <a:extLst>
              <a:ext uri="{FF2B5EF4-FFF2-40B4-BE49-F238E27FC236}">
                <a16:creationId xmlns:a16="http://schemas.microsoft.com/office/drawing/2014/main" id="{D326E67F-89E2-B881-83A5-7FAFDF8A2EB5}"/>
              </a:ext>
            </a:extLst>
          </p:cNvPr>
          <p:cNvSpPr/>
          <p:nvPr/>
        </p:nvSpPr>
        <p:spPr>
          <a:xfrm rot="5400000">
            <a:off x="4407387" y="5854617"/>
            <a:ext cx="500062" cy="453120"/>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7AD9D53-1044-90E9-ADDD-7730325DB5F4}"/>
              </a:ext>
            </a:extLst>
          </p:cNvPr>
          <p:cNvPicPr>
            <a:picLocks noChangeAspect="1"/>
          </p:cNvPicPr>
          <p:nvPr/>
        </p:nvPicPr>
        <p:blipFill>
          <a:blip r:embed="rId2"/>
          <a:stretch>
            <a:fillRect/>
          </a:stretch>
        </p:blipFill>
        <p:spPr>
          <a:xfrm>
            <a:off x="846941" y="1217445"/>
            <a:ext cx="4744641" cy="3072428"/>
          </a:xfrm>
          <a:prstGeom prst="rect">
            <a:avLst/>
          </a:prstGeom>
        </p:spPr>
      </p:pic>
      <p:sp>
        <p:nvSpPr>
          <p:cNvPr id="12" name="Title 1">
            <a:extLst>
              <a:ext uri="{FF2B5EF4-FFF2-40B4-BE49-F238E27FC236}">
                <a16:creationId xmlns:a16="http://schemas.microsoft.com/office/drawing/2014/main" id="{6BD1D094-FF31-47D1-745F-639EB610E533}"/>
              </a:ext>
            </a:extLst>
          </p:cNvPr>
          <p:cNvSpPr txBox="1">
            <a:spLocks/>
          </p:cNvSpPr>
          <p:nvPr/>
        </p:nvSpPr>
        <p:spPr>
          <a:xfrm>
            <a:off x="2594966" y="176194"/>
            <a:ext cx="6816827" cy="6350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latin typeface="Cambria" panose="02040503050406030204" pitchFamily="18" charset="0"/>
                <a:ea typeface="Cambria" panose="02040503050406030204" pitchFamily="18" charset="0"/>
              </a:rPr>
              <a:t>Audience Demographics</a:t>
            </a:r>
          </a:p>
        </p:txBody>
      </p:sp>
      <p:pic>
        <p:nvPicPr>
          <p:cNvPr id="16" name="Picture 15">
            <a:extLst>
              <a:ext uri="{FF2B5EF4-FFF2-40B4-BE49-F238E27FC236}">
                <a16:creationId xmlns:a16="http://schemas.microsoft.com/office/drawing/2014/main" id="{BA1FDC69-D46B-575B-D19C-0B75C9B39D13}"/>
              </a:ext>
            </a:extLst>
          </p:cNvPr>
          <p:cNvPicPr>
            <a:picLocks noChangeAspect="1"/>
          </p:cNvPicPr>
          <p:nvPr/>
        </p:nvPicPr>
        <p:blipFill>
          <a:blip r:embed="rId3"/>
          <a:stretch>
            <a:fillRect/>
          </a:stretch>
        </p:blipFill>
        <p:spPr>
          <a:xfrm>
            <a:off x="5143500" y="3529781"/>
            <a:ext cx="6934200" cy="2801427"/>
          </a:xfrm>
          <a:prstGeom prst="rect">
            <a:avLst/>
          </a:prstGeom>
        </p:spPr>
      </p:pic>
    </p:spTree>
    <p:extLst>
      <p:ext uri="{BB962C8B-B14F-4D97-AF65-F5344CB8AC3E}">
        <p14:creationId xmlns:p14="http://schemas.microsoft.com/office/powerpoint/2010/main" val="4280305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1E5DE-3CB3-2427-4375-33C926DBEB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872535-55A6-E286-7370-C6242ACA1D93}"/>
              </a:ext>
            </a:extLst>
          </p:cNvPr>
          <p:cNvSpPr>
            <a:spLocks noGrp="1"/>
          </p:cNvSpPr>
          <p:nvPr>
            <p:ph type="title"/>
          </p:nvPr>
        </p:nvSpPr>
        <p:spPr>
          <a:xfrm>
            <a:off x="491150" y="136525"/>
            <a:ext cx="9063038" cy="866696"/>
          </a:xfrm>
        </p:spPr>
        <p:txBody>
          <a:bodyPr>
            <a:normAutofit/>
          </a:bodyPr>
          <a:lstStyle/>
          <a:p>
            <a:r>
              <a:rPr lang="en-IN" b="1" dirty="0">
                <a:latin typeface="Cambria" panose="02040503050406030204" pitchFamily="18" charset="0"/>
                <a:ea typeface="Cambria" panose="02040503050406030204" pitchFamily="18" charset="0"/>
              </a:rPr>
              <a:t>Hypotheses</a:t>
            </a:r>
          </a:p>
        </p:txBody>
      </p:sp>
      <p:sp>
        <p:nvSpPr>
          <p:cNvPr id="4" name="Slide Number Placeholder 3">
            <a:extLst>
              <a:ext uri="{FF2B5EF4-FFF2-40B4-BE49-F238E27FC236}">
                <a16:creationId xmlns:a16="http://schemas.microsoft.com/office/drawing/2014/main" id="{5B49AA86-1728-94BE-DF0E-55964E5FCB31}"/>
              </a:ext>
            </a:extLst>
          </p:cNvPr>
          <p:cNvSpPr>
            <a:spLocks noGrp="1"/>
          </p:cNvSpPr>
          <p:nvPr>
            <p:ph type="sldNum" sz="quarter" idx="12"/>
          </p:nvPr>
        </p:nvSpPr>
        <p:spPr/>
        <p:txBody>
          <a:bodyPr/>
          <a:lstStyle/>
          <a:p>
            <a:fld id="{B4A918BC-4D43-4B42-B3C0-E7EBE25E6AF0}" type="slidenum">
              <a:rPr lang="en-US" smtClean="0"/>
              <a:t>10</a:t>
            </a:fld>
            <a:endParaRPr lang="en-US"/>
          </a:p>
        </p:txBody>
      </p:sp>
      <p:sp>
        <p:nvSpPr>
          <p:cNvPr id="6" name="Content Placeholder 5">
            <a:extLst>
              <a:ext uri="{FF2B5EF4-FFF2-40B4-BE49-F238E27FC236}">
                <a16:creationId xmlns:a16="http://schemas.microsoft.com/office/drawing/2014/main" id="{80DB23CB-A464-338F-6D0D-2853302F88AF}"/>
              </a:ext>
            </a:extLst>
          </p:cNvPr>
          <p:cNvSpPr txBox="1">
            <a:spLocks noGrp="1"/>
          </p:cNvSpPr>
          <p:nvPr>
            <p:ph idx="1"/>
          </p:nvPr>
        </p:nvSpPr>
        <p:spPr>
          <a:xfrm>
            <a:off x="140878" y="925927"/>
            <a:ext cx="10783526" cy="2176493"/>
          </a:xfrm>
          <a:prstGeom prst="rect">
            <a:avLst/>
          </a:prstGeom>
          <a:noFill/>
        </p:spPr>
        <p:txBody>
          <a:bodyPr wrap="square">
            <a:spAutoFit/>
          </a:bodyPr>
          <a:lstStyle/>
          <a:p>
            <a:pPr>
              <a:lnSpc>
                <a:spcPct val="115000"/>
              </a:lnSpc>
              <a:spcAft>
                <a:spcPts val="800"/>
              </a:spcAft>
            </a:pPr>
            <a:r>
              <a:rPr lang="en-US" sz="1600" b="1" kern="100" dirty="0">
                <a:effectLst/>
                <a:latin typeface="Cambria" panose="02040503050406030204" pitchFamily="18" charset="0"/>
                <a:ea typeface="Cambria" panose="02040503050406030204" pitchFamily="18" charset="0"/>
                <a:cs typeface="Times New Roman" panose="02020603050405020304" pitchFamily="18" charset="0"/>
              </a:rPr>
              <a:t>Hypothesis :</a:t>
            </a:r>
            <a:r>
              <a:rPr lang="en-US" sz="1600" b="1" kern="100" dirty="0">
                <a:latin typeface="Cambria" panose="02040503050406030204" pitchFamily="18" charset="0"/>
                <a:ea typeface="Cambria" panose="02040503050406030204" pitchFamily="18" charset="0"/>
                <a:cs typeface="Times New Roman" panose="02020603050405020304" pitchFamily="18" charset="0"/>
              </a:rPr>
              <a:t> </a:t>
            </a:r>
            <a:r>
              <a:rPr lang="en-US" sz="1600" b="1" i="1" kern="100" dirty="0">
                <a:latin typeface="Cambria" panose="02040503050406030204" pitchFamily="18" charset="0"/>
                <a:ea typeface="Cambria" panose="02040503050406030204" pitchFamily="18" charset="0"/>
                <a:cs typeface="Times New Roman" panose="02020603050405020304" pitchFamily="18" charset="0"/>
              </a:rPr>
              <a:t> </a:t>
            </a:r>
            <a:r>
              <a:rPr lang="en-US" sz="1600" i="1" kern="100" dirty="0">
                <a:latin typeface="Cambria" panose="02040503050406030204" pitchFamily="18" charset="0"/>
                <a:ea typeface="Cambria" panose="02040503050406030204" pitchFamily="18" charset="0"/>
                <a:cs typeface="Times New Roman" panose="02020603050405020304" pitchFamily="18" charset="0"/>
              </a:rPr>
              <a:t>The Overall followers Growth.</a:t>
            </a:r>
          </a:p>
          <a:p>
            <a:pPr>
              <a:lnSpc>
                <a:spcPct val="115000"/>
              </a:lnSpc>
              <a:spcAft>
                <a:spcPts val="800"/>
              </a:spcAft>
            </a:pPr>
            <a:r>
              <a:rPr lang="en-US" sz="1600" i="1" kern="100" dirty="0">
                <a:latin typeface="Cambria" panose="02040503050406030204" pitchFamily="18" charset="0"/>
                <a:ea typeface="Cambria" panose="02040503050406030204" pitchFamily="18" charset="0"/>
                <a:cs typeface="Times New Roman" panose="02020603050405020304" pitchFamily="18" charset="0"/>
              </a:rPr>
              <a:t>Ho : There is no Increment in Follower’s Growth.</a:t>
            </a:r>
          </a:p>
          <a:p>
            <a:pPr>
              <a:lnSpc>
                <a:spcPct val="115000"/>
              </a:lnSpc>
              <a:spcAft>
                <a:spcPts val="800"/>
              </a:spcAft>
            </a:pPr>
            <a:r>
              <a:rPr lang="en-US" sz="1600" i="1" kern="100" dirty="0">
                <a:latin typeface="Cambria" panose="02040503050406030204" pitchFamily="18" charset="0"/>
                <a:ea typeface="Cambria" panose="02040503050406030204" pitchFamily="18" charset="0"/>
                <a:cs typeface="Times New Roman" panose="02020603050405020304" pitchFamily="18" charset="0"/>
              </a:rPr>
              <a:t>H1 : There is Increment In </a:t>
            </a:r>
            <a:r>
              <a:rPr lang="en-US" sz="1600" i="1" kern="100" dirty="0" err="1">
                <a:latin typeface="Cambria" panose="02040503050406030204" pitchFamily="18" charset="0"/>
                <a:ea typeface="Cambria" panose="02040503050406030204" pitchFamily="18" charset="0"/>
                <a:cs typeface="Times New Roman" panose="02020603050405020304" pitchFamily="18" charset="0"/>
              </a:rPr>
              <a:t>Followers’s</a:t>
            </a:r>
            <a:r>
              <a:rPr lang="en-US" sz="1600" i="1" kern="100" dirty="0">
                <a:latin typeface="Cambria" panose="02040503050406030204" pitchFamily="18" charset="0"/>
                <a:ea typeface="Cambria" panose="02040503050406030204" pitchFamily="18" charset="0"/>
                <a:cs typeface="Times New Roman" panose="02020603050405020304" pitchFamily="18" charset="0"/>
              </a:rPr>
              <a:t> Growth.</a:t>
            </a:r>
          </a:p>
          <a:p>
            <a:pPr>
              <a:lnSpc>
                <a:spcPct val="115000"/>
              </a:lnSpc>
              <a:spcAft>
                <a:spcPts val="800"/>
              </a:spcAft>
            </a:pPr>
            <a:r>
              <a:rPr lang="en-US" sz="1600" b="1" kern="100" dirty="0">
                <a:effectLst/>
                <a:latin typeface="Cambria" panose="02040503050406030204" pitchFamily="18" charset="0"/>
                <a:ea typeface="Cambria" panose="02040503050406030204" pitchFamily="18" charset="0"/>
                <a:cs typeface="Times New Roman" panose="02020603050405020304" pitchFamily="18" charset="0"/>
              </a:rPr>
              <a:t>Conclusion </a:t>
            </a:r>
            <a:r>
              <a:rPr lang="en-US" sz="1600" b="1" kern="100" dirty="0">
                <a:latin typeface="Cambria" panose="02040503050406030204" pitchFamily="18" charset="0"/>
                <a:ea typeface="Cambria" panose="02040503050406030204" pitchFamily="18" charset="0"/>
                <a:cs typeface="Times New Roman" panose="02020603050405020304" pitchFamily="18" charset="0"/>
              </a:rPr>
              <a:t>:</a:t>
            </a:r>
            <a:r>
              <a:rPr lang="en-US" sz="1600" kern="100" dirty="0">
                <a:latin typeface="Cambria" panose="02040503050406030204" pitchFamily="18" charset="0"/>
                <a:ea typeface="Cambria" panose="02040503050406030204" pitchFamily="18" charset="0"/>
                <a:cs typeface="Times New Roman" panose="02020603050405020304" pitchFamily="18" charset="0"/>
              </a:rPr>
              <a:t>p‑value ≥ 0.05, we fail to reject the null hypothesis, This means the data does not provide enough evidence to conclude that the average follower count is higher.</a:t>
            </a:r>
            <a:endParaRPr lang="en-US" sz="1600" kern="100" dirty="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86F5BE82-8C8A-21D2-7125-874D130F5F74}"/>
              </a:ext>
            </a:extLst>
          </p:cNvPr>
          <p:cNvSpPr txBox="1">
            <a:spLocks/>
          </p:cNvSpPr>
          <p:nvPr/>
        </p:nvSpPr>
        <p:spPr>
          <a:xfrm>
            <a:off x="491150" y="284918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latin typeface="Cambria" panose="02040503050406030204" pitchFamily="18" charset="0"/>
                <a:ea typeface="Cambria" panose="02040503050406030204" pitchFamily="18" charset="0"/>
              </a:rPr>
              <a:t>Engagement Matrices</a:t>
            </a:r>
          </a:p>
        </p:txBody>
      </p:sp>
      <p:sp>
        <p:nvSpPr>
          <p:cNvPr id="5" name="TextBox 4">
            <a:extLst>
              <a:ext uri="{FF2B5EF4-FFF2-40B4-BE49-F238E27FC236}">
                <a16:creationId xmlns:a16="http://schemas.microsoft.com/office/drawing/2014/main" id="{68499B66-B376-AA2E-AF2E-BFB2F78BD25D}"/>
              </a:ext>
            </a:extLst>
          </p:cNvPr>
          <p:cNvSpPr txBox="1"/>
          <p:nvPr/>
        </p:nvSpPr>
        <p:spPr>
          <a:xfrm>
            <a:off x="140878" y="4174750"/>
            <a:ext cx="8726090" cy="2062103"/>
          </a:xfrm>
          <a:prstGeom prst="rect">
            <a:avLst/>
          </a:prstGeom>
          <a:noFill/>
        </p:spPr>
        <p:txBody>
          <a:bodyPr wrap="square">
            <a:spAutoFit/>
          </a:bodyPr>
          <a:lstStyle/>
          <a:p>
            <a:pPr>
              <a:buNone/>
            </a:pPr>
            <a:r>
              <a:rPr lang="en-US" sz="1600" b="1" dirty="0">
                <a:latin typeface="Cambria" panose="02040503050406030204" pitchFamily="18" charset="0"/>
                <a:ea typeface="Cambria" panose="02040503050406030204" pitchFamily="18" charset="0"/>
              </a:rPr>
              <a:t>CHI-SQAURE TEST OF INDEPENDENCE </a:t>
            </a:r>
          </a:p>
          <a:p>
            <a:pPr>
              <a:buNone/>
            </a:pPr>
            <a:endParaRPr lang="en-US" sz="1600" b="1" dirty="0">
              <a:latin typeface="Cambria" panose="02040503050406030204" pitchFamily="18" charset="0"/>
              <a:ea typeface="Cambria" panose="02040503050406030204" pitchFamily="18" charset="0"/>
            </a:endParaRPr>
          </a:p>
          <a:p>
            <a:pPr>
              <a:buFont typeface="Arial" panose="020B0604020202020204" pitchFamily="34" charset="0"/>
              <a:buChar char="•"/>
            </a:pPr>
            <a:r>
              <a:rPr lang="en-US" sz="1600" dirty="0">
                <a:latin typeface="Cambria" panose="02040503050406030204" pitchFamily="18" charset="0"/>
                <a:ea typeface="Cambria" panose="02040503050406030204" pitchFamily="18" charset="0"/>
              </a:rPr>
              <a:t>Null Hypothesis: Views, Likes, and Shares are independent (no relationship).</a:t>
            </a:r>
          </a:p>
          <a:p>
            <a:pPr>
              <a:buFont typeface="Arial" panose="020B0604020202020204" pitchFamily="34" charset="0"/>
              <a:buChar char="•"/>
            </a:pPr>
            <a:endParaRPr lang="en-US" sz="1600" dirty="0">
              <a:latin typeface="Cambria" panose="02040503050406030204" pitchFamily="18" charset="0"/>
              <a:ea typeface="Cambria" panose="02040503050406030204" pitchFamily="18" charset="0"/>
            </a:endParaRPr>
          </a:p>
          <a:p>
            <a:pPr>
              <a:buFont typeface="Arial" panose="020B0604020202020204" pitchFamily="34" charset="0"/>
              <a:buChar char="•"/>
            </a:pPr>
            <a:r>
              <a:rPr lang="en-US" sz="1600" dirty="0">
                <a:latin typeface="Cambria" panose="02040503050406030204" pitchFamily="18" charset="0"/>
                <a:ea typeface="Cambria" panose="02040503050406030204" pitchFamily="18" charset="0"/>
              </a:rPr>
              <a:t>Alternative Hypothesis: Views, Likes, and Shares are dependent (there is a relationship)</a:t>
            </a:r>
          </a:p>
          <a:p>
            <a:pPr>
              <a:buNone/>
            </a:pPr>
            <a:endParaRPr lang="en-US" sz="1600" dirty="0">
              <a:latin typeface="Cambria" panose="02040503050406030204" pitchFamily="18" charset="0"/>
              <a:ea typeface="Cambria" panose="02040503050406030204" pitchFamily="18" charset="0"/>
            </a:endParaRPr>
          </a:p>
          <a:p>
            <a:pPr>
              <a:buNone/>
            </a:pPr>
            <a:r>
              <a:rPr lang="en-US" sz="1600" b="1" dirty="0">
                <a:latin typeface="Cambria" panose="02040503050406030204" pitchFamily="18" charset="0"/>
                <a:ea typeface="Cambria" panose="02040503050406030204" pitchFamily="18" charset="0"/>
              </a:rPr>
              <a:t> </a:t>
            </a:r>
            <a:r>
              <a:rPr lang="en-US" sz="1600" b="1" dirty="0" err="1">
                <a:latin typeface="Cambria" panose="02040503050406030204" pitchFamily="18" charset="0"/>
                <a:ea typeface="Cambria" panose="02040503050406030204" pitchFamily="18" charset="0"/>
              </a:rPr>
              <a:t>conclusion:</a:t>
            </a:r>
            <a:r>
              <a:rPr lang="en-US" sz="1600" dirty="0" err="1">
                <a:latin typeface="Cambria" panose="02040503050406030204" pitchFamily="18" charset="0"/>
                <a:ea typeface="Cambria" panose="02040503050406030204" pitchFamily="18" charset="0"/>
              </a:rPr>
              <a:t>The</a:t>
            </a:r>
            <a:r>
              <a:rPr lang="en-US" sz="1600" dirty="0">
                <a:latin typeface="Cambria" panose="02040503050406030204" pitchFamily="18" charset="0"/>
                <a:ea typeface="Cambria" panose="02040503050406030204" pitchFamily="18" charset="0"/>
              </a:rPr>
              <a:t> Chi‑Square test result indicates that there is no statistically significant evidence to suggest that Views, Likes, and Shares are dependent on each other</a:t>
            </a:r>
            <a:r>
              <a:rPr lang="en-US" sz="1600" b="1"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190088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B6B0-B4E9-1F43-5A91-022B10DA1D2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ECBDA00-C9C6-3206-91EF-E83B9B7F6D41}"/>
              </a:ext>
            </a:extLst>
          </p:cNvPr>
          <p:cNvSpPr>
            <a:spLocks noGrp="1"/>
          </p:cNvSpPr>
          <p:nvPr>
            <p:ph type="sldNum" sz="quarter" idx="12"/>
          </p:nvPr>
        </p:nvSpPr>
        <p:spPr/>
        <p:txBody>
          <a:bodyPr/>
          <a:lstStyle/>
          <a:p>
            <a:fld id="{B4A918BC-4D43-4B42-B3C0-E7EBE25E6AF0}" type="slidenum">
              <a:rPr lang="en-US" smtClean="0"/>
              <a:t>11</a:t>
            </a:fld>
            <a:endParaRPr lang="en-US"/>
          </a:p>
        </p:txBody>
      </p:sp>
      <p:sp>
        <p:nvSpPr>
          <p:cNvPr id="2" name="Title 1">
            <a:extLst>
              <a:ext uri="{FF2B5EF4-FFF2-40B4-BE49-F238E27FC236}">
                <a16:creationId xmlns:a16="http://schemas.microsoft.com/office/drawing/2014/main" id="{A92FA1E8-2D87-7ABD-CE91-81ED314407DA}"/>
              </a:ext>
            </a:extLst>
          </p:cNvPr>
          <p:cNvSpPr txBox="1">
            <a:spLocks/>
          </p:cNvSpPr>
          <p:nvPr/>
        </p:nvSpPr>
        <p:spPr>
          <a:xfrm>
            <a:off x="701170" y="136525"/>
            <a:ext cx="9379482" cy="672838"/>
          </a:xfrm>
          <a:prstGeom prst="rect">
            <a:avLst/>
          </a:prstGeom>
        </p:spPr>
        <p:txBody>
          <a:bodyPr>
            <a:noAutofit/>
          </a:bodyPr>
          <a:lst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a:lstStyle>
          <a:p>
            <a:r>
              <a:rPr lang="en-US" b="1" dirty="0">
                <a:latin typeface="Cambria" panose="02040503050406030204" pitchFamily="18" charset="0"/>
                <a:ea typeface="Cambria" panose="02040503050406030204" pitchFamily="18" charset="0"/>
              </a:rPr>
              <a:t>Machine Learning Models’ Insights</a:t>
            </a:r>
          </a:p>
        </p:txBody>
      </p:sp>
      <p:graphicFrame>
        <p:nvGraphicFramePr>
          <p:cNvPr id="3" name="Table 2">
            <a:extLst>
              <a:ext uri="{FF2B5EF4-FFF2-40B4-BE49-F238E27FC236}">
                <a16:creationId xmlns:a16="http://schemas.microsoft.com/office/drawing/2014/main" id="{DE492A56-69AE-63B0-FF8C-564F5E76C5DA}"/>
              </a:ext>
            </a:extLst>
          </p:cNvPr>
          <p:cNvGraphicFramePr>
            <a:graphicFrameLocks noGrp="1"/>
          </p:cNvGraphicFramePr>
          <p:nvPr>
            <p:extLst>
              <p:ext uri="{D42A27DB-BD31-4B8C-83A1-F6EECF244321}">
                <p14:modId xmlns:p14="http://schemas.microsoft.com/office/powerpoint/2010/main" val="3004759124"/>
              </p:ext>
            </p:extLst>
          </p:nvPr>
        </p:nvGraphicFramePr>
        <p:xfrm>
          <a:off x="428626" y="1814055"/>
          <a:ext cx="2951362" cy="1071796"/>
        </p:xfrm>
        <a:graphic>
          <a:graphicData uri="http://schemas.openxmlformats.org/drawingml/2006/table">
            <a:tbl>
              <a:tblPr firstRow="1" firstCol="1" bandRow="1">
                <a:tableStyleId>{5C22544A-7EE6-4342-B048-85BDC9FD1C3A}</a:tableStyleId>
              </a:tblPr>
              <a:tblGrid>
                <a:gridCol w="1475681">
                  <a:extLst>
                    <a:ext uri="{9D8B030D-6E8A-4147-A177-3AD203B41FA5}">
                      <a16:colId xmlns:a16="http://schemas.microsoft.com/office/drawing/2014/main" val="2346323501"/>
                    </a:ext>
                  </a:extLst>
                </a:gridCol>
                <a:gridCol w="1475681">
                  <a:extLst>
                    <a:ext uri="{9D8B030D-6E8A-4147-A177-3AD203B41FA5}">
                      <a16:colId xmlns:a16="http://schemas.microsoft.com/office/drawing/2014/main" val="329427439"/>
                    </a:ext>
                  </a:extLst>
                </a:gridCol>
              </a:tblGrid>
              <a:tr h="349084">
                <a:tc>
                  <a:txBody>
                    <a:bodyPr/>
                    <a:lstStyle/>
                    <a:p>
                      <a:pPr marL="0" marR="0">
                        <a:lnSpc>
                          <a:spcPct val="115000"/>
                        </a:lnSpc>
                        <a:spcAft>
                          <a:spcPts val="800"/>
                        </a:spcAft>
                        <a:buNone/>
                      </a:pPr>
                      <a:r>
                        <a:rPr lang="en-US" sz="1200" kern="100" dirty="0">
                          <a:effectLst/>
                        </a:rPr>
                        <a:t>Metric</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dirty="0">
                          <a:effectLst/>
                        </a:rPr>
                        <a:t>Value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1065096"/>
                  </a:ext>
                </a:extLst>
              </a:tr>
              <a:tr h="361356">
                <a:tc>
                  <a:txBody>
                    <a:bodyPr/>
                    <a:lstStyle/>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Intercept</a:t>
                      </a:r>
                    </a:p>
                  </a:txBody>
                  <a:tcPr marL="9525" marR="9525" marT="9525" marB="9525" anchor="ctr"/>
                </a:tc>
                <a:tc>
                  <a:txBody>
                    <a:bodyPr/>
                    <a:lstStyle/>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1509.978</a:t>
                      </a:r>
                    </a:p>
                  </a:txBody>
                  <a:tcPr marL="9525" marR="9525" marT="9525" marB="9525" anchor="ctr"/>
                </a:tc>
                <a:extLst>
                  <a:ext uri="{0D108BD9-81ED-4DB2-BD59-A6C34878D82A}">
                    <a16:rowId xmlns:a16="http://schemas.microsoft.com/office/drawing/2014/main" val="1776675337"/>
                  </a:ext>
                </a:extLst>
              </a:tr>
              <a:tr h="361356">
                <a:tc>
                  <a:txBody>
                    <a:bodyPr/>
                    <a:lstStyle/>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Slope</a:t>
                      </a:r>
                    </a:p>
                  </a:txBody>
                  <a:tcPr marL="9525" marR="9525" marT="9525" marB="9525" anchor="ctr"/>
                </a:tc>
                <a:tc>
                  <a:txBody>
                    <a:bodyPr/>
                    <a:lstStyle/>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[0.00070762]</a:t>
                      </a:r>
                    </a:p>
                  </a:txBody>
                  <a:tcPr marL="9525" marR="9525" marT="9525" marB="9525" anchor="ctr"/>
                </a:tc>
                <a:extLst>
                  <a:ext uri="{0D108BD9-81ED-4DB2-BD59-A6C34878D82A}">
                    <a16:rowId xmlns:a16="http://schemas.microsoft.com/office/drawing/2014/main" val="624519143"/>
                  </a:ext>
                </a:extLst>
              </a:tr>
            </a:tbl>
          </a:graphicData>
        </a:graphic>
      </p:graphicFrame>
      <p:sp>
        <p:nvSpPr>
          <p:cNvPr id="6" name="TextBox 5">
            <a:extLst>
              <a:ext uri="{FF2B5EF4-FFF2-40B4-BE49-F238E27FC236}">
                <a16:creationId xmlns:a16="http://schemas.microsoft.com/office/drawing/2014/main" id="{6629FCB2-C0F2-F15C-EBB1-0435F20AAEF5}"/>
              </a:ext>
            </a:extLst>
          </p:cNvPr>
          <p:cNvSpPr txBox="1"/>
          <p:nvPr/>
        </p:nvSpPr>
        <p:spPr>
          <a:xfrm>
            <a:off x="337376" y="1301238"/>
            <a:ext cx="3529012" cy="369332"/>
          </a:xfrm>
          <a:prstGeom prst="rect">
            <a:avLst/>
          </a:prstGeom>
          <a:noFill/>
        </p:spPr>
        <p:txBody>
          <a:bodyPr wrap="square" rtlCol="0">
            <a:spAutoFit/>
          </a:bodyPr>
          <a:lstStyle/>
          <a:p>
            <a:r>
              <a:rPr lang="en-US" dirty="0"/>
              <a:t>Model Used: Linear Regression</a:t>
            </a:r>
          </a:p>
        </p:txBody>
      </p:sp>
      <p:sp>
        <p:nvSpPr>
          <p:cNvPr id="7" name="TextBox 6">
            <a:extLst>
              <a:ext uri="{FF2B5EF4-FFF2-40B4-BE49-F238E27FC236}">
                <a16:creationId xmlns:a16="http://schemas.microsoft.com/office/drawing/2014/main" id="{4EFAB13F-BB07-A58D-FC34-3AC55E6CB315}"/>
              </a:ext>
            </a:extLst>
          </p:cNvPr>
          <p:cNvSpPr txBox="1"/>
          <p:nvPr/>
        </p:nvSpPr>
        <p:spPr>
          <a:xfrm>
            <a:off x="4417763" y="1316191"/>
            <a:ext cx="6553200" cy="1569660"/>
          </a:xfrm>
          <a:prstGeom prst="rect">
            <a:avLst/>
          </a:prstGeom>
          <a:noFill/>
        </p:spPr>
        <p:txBody>
          <a:bodyPr wrap="square">
            <a:spAutoFit/>
          </a:bodyPr>
          <a:lstStyle/>
          <a:p>
            <a:r>
              <a:rPr lang="en-US" sz="1600" b="1" dirty="0">
                <a:latin typeface="Cambria" panose="02040503050406030204" pitchFamily="18" charset="0"/>
                <a:ea typeface="Cambria" panose="02040503050406030204" pitchFamily="18" charset="0"/>
              </a:rPr>
              <a:t>Conclusion:</a:t>
            </a:r>
          </a:p>
          <a:p>
            <a:r>
              <a:rPr lang="en-US" sz="1600" dirty="0">
                <a:latin typeface="Cambria" panose="02040503050406030204" pitchFamily="18" charset="0"/>
                <a:ea typeface="Cambria" panose="02040503050406030204" pitchFamily="18" charset="0"/>
              </a:rPr>
              <a:t>The regression suggests that longer content is associated with slightly       more likes.</a:t>
            </a:r>
          </a:p>
          <a:p>
            <a:r>
              <a:rPr lang="en-US" sz="1600" dirty="0">
                <a:latin typeface="Cambria" panose="02040503050406030204" pitchFamily="18" charset="0"/>
                <a:ea typeface="Cambria" panose="02040503050406030204" pitchFamily="18" charset="0"/>
              </a:rPr>
              <a:t>This could imply that audiences tend to engage more (liking posts) when content is longer, possibly because longer posts provide more detail or value.</a:t>
            </a:r>
          </a:p>
        </p:txBody>
      </p:sp>
      <p:sp>
        <p:nvSpPr>
          <p:cNvPr id="8" name="TextBox 7">
            <a:extLst>
              <a:ext uri="{FF2B5EF4-FFF2-40B4-BE49-F238E27FC236}">
                <a16:creationId xmlns:a16="http://schemas.microsoft.com/office/drawing/2014/main" id="{42E9771C-5166-5EE8-136E-F566DD312BC2}"/>
              </a:ext>
            </a:extLst>
          </p:cNvPr>
          <p:cNvSpPr txBox="1"/>
          <p:nvPr/>
        </p:nvSpPr>
        <p:spPr>
          <a:xfrm>
            <a:off x="139801" y="3602818"/>
            <a:ext cx="3529012" cy="369332"/>
          </a:xfrm>
          <a:prstGeom prst="rect">
            <a:avLst/>
          </a:prstGeom>
          <a:noFill/>
        </p:spPr>
        <p:txBody>
          <a:bodyPr wrap="square" rtlCol="0">
            <a:spAutoFit/>
          </a:bodyPr>
          <a:lstStyle/>
          <a:p>
            <a:r>
              <a:rPr lang="en-US" dirty="0"/>
              <a:t>Model Used: Linear Regression</a:t>
            </a:r>
          </a:p>
        </p:txBody>
      </p:sp>
      <p:graphicFrame>
        <p:nvGraphicFramePr>
          <p:cNvPr id="9" name="Table 8">
            <a:extLst>
              <a:ext uri="{FF2B5EF4-FFF2-40B4-BE49-F238E27FC236}">
                <a16:creationId xmlns:a16="http://schemas.microsoft.com/office/drawing/2014/main" id="{462E5C66-48DA-B1B1-BDDC-8522C2969AEA}"/>
              </a:ext>
            </a:extLst>
          </p:cNvPr>
          <p:cNvGraphicFramePr>
            <a:graphicFrameLocks noGrp="1"/>
          </p:cNvGraphicFramePr>
          <p:nvPr>
            <p:extLst>
              <p:ext uri="{D42A27DB-BD31-4B8C-83A1-F6EECF244321}">
                <p14:modId xmlns:p14="http://schemas.microsoft.com/office/powerpoint/2010/main" val="3994074615"/>
              </p:ext>
            </p:extLst>
          </p:nvPr>
        </p:nvGraphicFramePr>
        <p:xfrm>
          <a:off x="428626" y="4411040"/>
          <a:ext cx="2951362" cy="1058028"/>
        </p:xfrm>
        <a:graphic>
          <a:graphicData uri="http://schemas.openxmlformats.org/drawingml/2006/table">
            <a:tbl>
              <a:tblPr firstRow="1" firstCol="1" bandRow="1">
                <a:tableStyleId>{5C22544A-7EE6-4342-B048-85BDC9FD1C3A}</a:tableStyleId>
              </a:tblPr>
              <a:tblGrid>
                <a:gridCol w="1475681">
                  <a:extLst>
                    <a:ext uri="{9D8B030D-6E8A-4147-A177-3AD203B41FA5}">
                      <a16:colId xmlns:a16="http://schemas.microsoft.com/office/drawing/2014/main" val="295324080"/>
                    </a:ext>
                  </a:extLst>
                </a:gridCol>
                <a:gridCol w="1475681">
                  <a:extLst>
                    <a:ext uri="{9D8B030D-6E8A-4147-A177-3AD203B41FA5}">
                      <a16:colId xmlns:a16="http://schemas.microsoft.com/office/drawing/2014/main" val="4109420205"/>
                    </a:ext>
                  </a:extLst>
                </a:gridCol>
              </a:tblGrid>
              <a:tr h="344226">
                <a:tc>
                  <a:txBody>
                    <a:bodyPr/>
                    <a:lstStyle/>
                    <a:p>
                      <a:pPr marL="0" marR="0">
                        <a:lnSpc>
                          <a:spcPct val="115000"/>
                        </a:lnSpc>
                        <a:spcAft>
                          <a:spcPts val="800"/>
                        </a:spcAft>
                        <a:buNone/>
                      </a:pPr>
                      <a:r>
                        <a:rPr lang="en-US" sz="1200" kern="100">
                          <a:effectLst/>
                        </a:rPr>
                        <a:t>Metric</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a:effectLst/>
                        </a:rPr>
                        <a:t>Value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66654106"/>
                  </a:ext>
                </a:extLst>
              </a:tr>
              <a:tr h="356901">
                <a:tc>
                  <a:txBody>
                    <a:bodyPr/>
                    <a:lstStyle/>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Intercept</a:t>
                      </a:r>
                    </a:p>
                  </a:txBody>
                  <a:tcPr marL="9525" marR="9525" marT="9525" marB="9525" anchor="ctr"/>
                </a:tc>
                <a:tc>
                  <a:txBody>
                    <a:bodyPr/>
                    <a:lstStyle/>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10100.94</a:t>
                      </a:r>
                    </a:p>
                  </a:txBody>
                  <a:tcPr marL="9525" marR="9525" marT="9525" marB="9525" anchor="ctr"/>
                </a:tc>
                <a:extLst>
                  <a:ext uri="{0D108BD9-81ED-4DB2-BD59-A6C34878D82A}">
                    <a16:rowId xmlns:a16="http://schemas.microsoft.com/office/drawing/2014/main" val="3075039385"/>
                  </a:ext>
                </a:extLst>
              </a:tr>
              <a:tr h="356901">
                <a:tc>
                  <a:txBody>
                    <a:bodyPr/>
                    <a:lstStyle/>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Slope</a:t>
                      </a:r>
                    </a:p>
                  </a:txBody>
                  <a:tcPr marL="9525" marR="9525" marT="9525" marB="9525" anchor="ctr"/>
                </a:tc>
                <a:tc>
                  <a:txBody>
                    <a:bodyPr/>
                    <a:lstStyle/>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[-0.00137789]</a:t>
                      </a:r>
                    </a:p>
                  </a:txBody>
                  <a:tcPr marL="9525" marR="9525" marT="9525" marB="9525" anchor="ctr"/>
                </a:tc>
                <a:extLst>
                  <a:ext uri="{0D108BD9-81ED-4DB2-BD59-A6C34878D82A}">
                    <a16:rowId xmlns:a16="http://schemas.microsoft.com/office/drawing/2014/main" val="1273387854"/>
                  </a:ext>
                </a:extLst>
              </a:tr>
            </a:tbl>
          </a:graphicData>
        </a:graphic>
      </p:graphicFrame>
      <p:sp>
        <p:nvSpPr>
          <p:cNvPr id="12" name="TextBox 11">
            <a:extLst>
              <a:ext uri="{FF2B5EF4-FFF2-40B4-BE49-F238E27FC236}">
                <a16:creationId xmlns:a16="http://schemas.microsoft.com/office/drawing/2014/main" id="{0880CBD3-1F4A-6BD7-1F8C-F0A4B56B6C11}"/>
              </a:ext>
            </a:extLst>
          </p:cNvPr>
          <p:cNvSpPr txBox="1"/>
          <p:nvPr/>
        </p:nvSpPr>
        <p:spPr>
          <a:xfrm>
            <a:off x="4417763" y="4145629"/>
            <a:ext cx="6553200" cy="1323439"/>
          </a:xfrm>
          <a:prstGeom prst="rect">
            <a:avLst/>
          </a:prstGeom>
          <a:noFill/>
        </p:spPr>
        <p:txBody>
          <a:bodyPr wrap="square">
            <a:spAutoFit/>
          </a:bodyPr>
          <a:lstStyle/>
          <a:p>
            <a:r>
              <a:rPr lang="en-US" sz="1600" b="1" dirty="0">
                <a:latin typeface="Cambria" panose="02040503050406030204" pitchFamily="18" charset="0"/>
                <a:ea typeface="Cambria" panose="02040503050406030204" pitchFamily="18" charset="0"/>
              </a:rPr>
              <a:t>Conclusion:</a:t>
            </a:r>
          </a:p>
          <a:p>
            <a:r>
              <a:rPr lang="en-US" sz="1600" dirty="0">
                <a:latin typeface="Cambria" panose="02040503050406030204" pitchFamily="18" charset="0"/>
                <a:ea typeface="Cambria" panose="02040503050406030204" pitchFamily="18" charset="0"/>
              </a:rPr>
              <a:t>The regression suggests that longer content is associated with fewer views, though the effect size is minimal.</a:t>
            </a:r>
          </a:p>
          <a:p>
            <a:r>
              <a:rPr lang="en-US" sz="1600" dirty="0">
                <a:latin typeface="Cambria" panose="02040503050406030204" pitchFamily="18" charset="0"/>
                <a:ea typeface="Cambria" panose="02040503050406030204" pitchFamily="18" charset="0"/>
              </a:rPr>
              <a:t>This could imply that audiences prefer shorter content for higher engagement, or that longer posts/videos may not attract as many views.</a:t>
            </a:r>
          </a:p>
        </p:txBody>
      </p:sp>
    </p:spTree>
    <p:extLst>
      <p:ext uri="{BB962C8B-B14F-4D97-AF65-F5344CB8AC3E}">
        <p14:creationId xmlns:p14="http://schemas.microsoft.com/office/powerpoint/2010/main" val="1752837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D588B-789C-6F2C-A2FB-277A2C47FC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F0EC8-B100-A77B-AFB1-E7AF07A95AF8}"/>
              </a:ext>
            </a:extLst>
          </p:cNvPr>
          <p:cNvSpPr>
            <a:spLocks noGrp="1"/>
          </p:cNvSpPr>
          <p:nvPr>
            <p:ph type="title"/>
          </p:nvPr>
        </p:nvSpPr>
        <p:spPr>
          <a:xfrm>
            <a:off x="1093016" y="193168"/>
            <a:ext cx="9435168" cy="692150"/>
          </a:xfrm>
        </p:spPr>
        <p:txBody>
          <a:bodyPr>
            <a:noAutofit/>
          </a:bodyPr>
          <a:lstStyle/>
          <a:p>
            <a:r>
              <a:rPr lang="en-IN" b="1" dirty="0" err="1">
                <a:latin typeface="Cambria" panose="02040503050406030204" pitchFamily="18" charset="0"/>
                <a:ea typeface="Cambria" panose="02040503050406030204" pitchFamily="18" charset="0"/>
              </a:rPr>
              <a:t>Meachine</a:t>
            </a:r>
            <a:r>
              <a:rPr lang="en-IN" b="1" dirty="0">
                <a:latin typeface="Cambria" panose="02040503050406030204" pitchFamily="18" charset="0"/>
                <a:ea typeface="Cambria" panose="02040503050406030204" pitchFamily="18" charset="0"/>
              </a:rPr>
              <a:t> learning Model’s Insights</a:t>
            </a:r>
          </a:p>
        </p:txBody>
      </p:sp>
      <p:sp>
        <p:nvSpPr>
          <p:cNvPr id="4" name="Slide Number Placeholder 3">
            <a:extLst>
              <a:ext uri="{FF2B5EF4-FFF2-40B4-BE49-F238E27FC236}">
                <a16:creationId xmlns:a16="http://schemas.microsoft.com/office/drawing/2014/main" id="{5E9A2823-FB0C-62AA-09D3-7EFE8CCA5C1D}"/>
              </a:ext>
            </a:extLst>
          </p:cNvPr>
          <p:cNvSpPr>
            <a:spLocks noGrp="1"/>
          </p:cNvSpPr>
          <p:nvPr>
            <p:ph type="sldNum" sz="quarter" idx="12"/>
          </p:nvPr>
        </p:nvSpPr>
        <p:spPr/>
        <p:txBody>
          <a:bodyPr/>
          <a:lstStyle/>
          <a:p>
            <a:fld id="{B4A918BC-4D43-4B42-B3C0-E7EBE25E6AF0}" type="slidenum">
              <a:rPr lang="en-US" smtClean="0"/>
              <a:t>12</a:t>
            </a:fld>
            <a:endParaRPr lang="en-US"/>
          </a:p>
        </p:txBody>
      </p:sp>
      <p:sp>
        <p:nvSpPr>
          <p:cNvPr id="11" name="TextBox 10">
            <a:extLst>
              <a:ext uri="{FF2B5EF4-FFF2-40B4-BE49-F238E27FC236}">
                <a16:creationId xmlns:a16="http://schemas.microsoft.com/office/drawing/2014/main" id="{86AF309A-9A2A-29A6-B54B-61A8D689576F}"/>
              </a:ext>
            </a:extLst>
          </p:cNvPr>
          <p:cNvSpPr txBox="1"/>
          <p:nvPr/>
        </p:nvSpPr>
        <p:spPr>
          <a:xfrm>
            <a:off x="238124" y="1157049"/>
            <a:ext cx="5476143" cy="2585323"/>
          </a:xfrm>
          <a:prstGeom prst="rect">
            <a:avLst/>
          </a:prstGeom>
          <a:noFill/>
        </p:spPr>
        <p:txBody>
          <a:bodyPr wrap="square">
            <a:spAutoFit/>
          </a:bodyPr>
          <a:lstStyle/>
          <a:p>
            <a:r>
              <a:rPr lang="en-US" sz="1600" i="1" dirty="0"/>
              <a:t>Applied k-means clustering on standardized engagement metrics (</a:t>
            </a:r>
            <a:r>
              <a:rPr lang="en-US" i="1" dirty="0"/>
              <a:t>views</a:t>
            </a:r>
            <a:r>
              <a:rPr lang="en-US" sz="1600" i="1" dirty="0"/>
              <a:t>, </a:t>
            </a:r>
            <a:r>
              <a:rPr lang="en-US" i="1" dirty="0"/>
              <a:t>likes</a:t>
            </a:r>
            <a:r>
              <a:rPr lang="en-US" sz="1600" i="1" dirty="0"/>
              <a:t>, </a:t>
            </a:r>
            <a:r>
              <a:rPr lang="en-US" i="1" dirty="0"/>
              <a:t>shares</a:t>
            </a:r>
            <a:r>
              <a:rPr lang="en-US" sz="1600" i="1" dirty="0"/>
              <a:t>, </a:t>
            </a:r>
            <a:r>
              <a:rPr lang="en-US" i="1" dirty="0" err="1"/>
              <a:t>comments_count</a:t>
            </a:r>
            <a:r>
              <a:rPr lang="en-US" sz="1600" i="1" dirty="0"/>
              <a:t>) to identify distinct patterns of user interaction. The algorithm grouped the data into three clusters, representing low, medium, and high engagement levels. This clustering provides actionable insights into audience behavior, enabling us to distinguish typical posts from highly engaging ones and tailor strategies accordingly."</a:t>
            </a:r>
          </a:p>
          <a:p>
            <a:endParaRPr lang="en-US" sz="1600" dirty="0">
              <a:latin typeface="Cambria" panose="02040503050406030204" pitchFamily="18" charset="0"/>
              <a:ea typeface="Cambria" panose="02040503050406030204" pitchFamily="18" charset="0"/>
            </a:endParaRPr>
          </a:p>
          <a:p>
            <a:endParaRPr lang="en-US" sz="1600" dirty="0">
              <a:latin typeface="Cambria" panose="02040503050406030204" pitchFamily="18" charset="0"/>
              <a:ea typeface="Cambria" panose="02040503050406030204" pitchFamily="18" charset="0"/>
            </a:endParaRPr>
          </a:p>
          <a:p>
            <a:endParaRPr lang="en-US" sz="1600" dirty="0">
              <a:latin typeface="Cambria" panose="02040503050406030204" pitchFamily="18" charset="0"/>
              <a:ea typeface="Cambria" panose="02040503050406030204" pitchFamily="18" charset="0"/>
            </a:endParaRPr>
          </a:p>
        </p:txBody>
      </p:sp>
      <p:sp>
        <p:nvSpPr>
          <p:cNvPr id="14" name="TextBox 13">
            <a:extLst>
              <a:ext uri="{FF2B5EF4-FFF2-40B4-BE49-F238E27FC236}">
                <a16:creationId xmlns:a16="http://schemas.microsoft.com/office/drawing/2014/main" id="{18E40EFE-B060-8FDD-2E77-01804A922BE4}"/>
              </a:ext>
            </a:extLst>
          </p:cNvPr>
          <p:cNvSpPr txBox="1"/>
          <p:nvPr/>
        </p:nvSpPr>
        <p:spPr>
          <a:xfrm>
            <a:off x="5927739" y="4028033"/>
            <a:ext cx="5082319" cy="2308324"/>
          </a:xfrm>
          <a:prstGeom prst="rect">
            <a:avLst/>
          </a:prstGeom>
          <a:noFill/>
        </p:spPr>
        <p:txBody>
          <a:bodyPr wrap="square">
            <a:spAutoFit/>
          </a:bodyPr>
          <a:lstStyle/>
          <a:p>
            <a:r>
              <a:rPr lang="en-US" sz="1600" dirty="0"/>
              <a:t>Applied Logistic Regression to predict disclosure type based on sponsor category. While the model achieved an accuracy of 52.66%, the classification report revealed that it only performs well for class 0 and fails to identify class 1. This suggests that sponsor category alone is not a strong predictor of disclosure type. Future work should incorporate additional features and address class imbalance to improve predictive performance."</a:t>
            </a:r>
            <a:endParaRPr lang="en-US" sz="1600" dirty="0">
              <a:latin typeface="Cambria" panose="02040503050406030204" pitchFamily="18" charset="0"/>
              <a:ea typeface="Cambria" panose="02040503050406030204" pitchFamily="18" charset="0"/>
            </a:endParaRPr>
          </a:p>
        </p:txBody>
      </p:sp>
      <p:sp>
        <p:nvSpPr>
          <p:cNvPr id="8" name="Rectangle 1">
            <a:extLst>
              <a:ext uri="{FF2B5EF4-FFF2-40B4-BE49-F238E27FC236}">
                <a16:creationId xmlns:a16="http://schemas.microsoft.com/office/drawing/2014/main" id="{4137FF62-FCA7-7EA2-D387-89D5720BA941}"/>
              </a:ext>
            </a:extLst>
          </p:cNvPr>
          <p:cNvSpPr>
            <a:spLocks noChangeArrowheads="1"/>
          </p:cNvSpPr>
          <p:nvPr/>
        </p:nvSpPr>
        <p:spPr bwMode="auto">
          <a:xfrm>
            <a:off x="5927739" y="1145719"/>
            <a:ext cx="609460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Cluster 0: Likely represents low engagement records. These may have fewer views, likes, shares, and comments.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Cluster 1: Could correspond to moderate engagement. Balanced activity across metrics, possibly typical or average posts.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Cluster 2: </a:t>
            </a: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Represents</a:t>
            </a:r>
            <a:r>
              <a:rPr kumimoji="0" lang="en-US" altLang="en-US" sz="1800" i="0" u="none" strike="noStrike" cap="none" normalizeH="0" baseline="0" dirty="0">
                <a:ln>
                  <a:noFill/>
                </a:ln>
                <a:solidFill>
                  <a:schemeClr val="tx1"/>
                </a:solidFill>
                <a:effectLst/>
                <a:latin typeface="Arial" panose="020B0604020202020204" pitchFamily="34" charset="0"/>
              </a:rPr>
              <a:t> high engagement records. These posts likely went viral or attracted significant attention across all metrics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id="{E79F6FC7-B4AA-C68D-9A70-C70BF5942C4C}"/>
              </a:ext>
            </a:extLst>
          </p:cNvPr>
          <p:cNvGraphicFramePr>
            <a:graphicFrameLocks noGrp="1"/>
          </p:cNvGraphicFramePr>
          <p:nvPr>
            <p:extLst>
              <p:ext uri="{D42A27DB-BD31-4B8C-83A1-F6EECF244321}">
                <p14:modId xmlns:p14="http://schemas.microsoft.com/office/powerpoint/2010/main" val="1299314375"/>
              </p:ext>
            </p:extLst>
          </p:nvPr>
        </p:nvGraphicFramePr>
        <p:xfrm>
          <a:off x="867374" y="4312954"/>
          <a:ext cx="2951362" cy="1071796"/>
        </p:xfrm>
        <a:graphic>
          <a:graphicData uri="http://schemas.openxmlformats.org/drawingml/2006/table">
            <a:tbl>
              <a:tblPr firstRow="1" firstCol="1" bandRow="1">
                <a:tableStyleId>{5C22544A-7EE6-4342-B048-85BDC9FD1C3A}</a:tableStyleId>
              </a:tblPr>
              <a:tblGrid>
                <a:gridCol w="1492453">
                  <a:extLst>
                    <a:ext uri="{9D8B030D-6E8A-4147-A177-3AD203B41FA5}">
                      <a16:colId xmlns:a16="http://schemas.microsoft.com/office/drawing/2014/main" val="2346323501"/>
                    </a:ext>
                  </a:extLst>
                </a:gridCol>
                <a:gridCol w="1458909">
                  <a:extLst>
                    <a:ext uri="{9D8B030D-6E8A-4147-A177-3AD203B41FA5}">
                      <a16:colId xmlns:a16="http://schemas.microsoft.com/office/drawing/2014/main" val="329427439"/>
                    </a:ext>
                  </a:extLst>
                </a:gridCol>
              </a:tblGrid>
              <a:tr h="349084">
                <a:tc>
                  <a:txBody>
                    <a:bodyPr/>
                    <a:lstStyle/>
                    <a:p>
                      <a:pPr marL="0" marR="0">
                        <a:lnSpc>
                          <a:spcPct val="115000"/>
                        </a:lnSpc>
                        <a:spcAft>
                          <a:spcPts val="800"/>
                        </a:spcAft>
                        <a:buNone/>
                      </a:pPr>
                      <a:r>
                        <a:rPr lang="en-US" sz="1200" kern="100" dirty="0">
                          <a:effectLst/>
                        </a:rPr>
                        <a:t>Metric</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dirty="0">
                          <a:effectLst/>
                        </a:rPr>
                        <a:t>Value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1065096"/>
                  </a:ext>
                </a:extLst>
              </a:tr>
              <a:tr h="361356">
                <a:tc>
                  <a:txBody>
                    <a:bodyPr/>
                    <a:lstStyle/>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Accuracy</a:t>
                      </a:r>
                    </a:p>
                  </a:txBody>
                  <a:tcPr marL="9525" marR="9525" marT="9525" marB="9525" anchor="ctr"/>
                </a:tc>
                <a:tc>
                  <a:txBody>
                    <a:bodyPr/>
                    <a:lstStyle/>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52.66%</a:t>
                      </a:r>
                    </a:p>
                  </a:txBody>
                  <a:tcPr marL="9525" marR="9525" marT="9525" marB="9525" anchor="ctr"/>
                </a:tc>
                <a:extLst>
                  <a:ext uri="{0D108BD9-81ED-4DB2-BD59-A6C34878D82A}">
                    <a16:rowId xmlns:a16="http://schemas.microsoft.com/office/drawing/2014/main" val="1776675337"/>
                  </a:ext>
                </a:extLst>
              </a:tr>
              <a:tr h="361356">
                <a:tc>
                  <a:txBody>
                    <a:bodyPr/>
                    <a:lstStyle/>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Precision</a:t>
                      </a:r>
                    </a:p>
                  </a:txBody>
                  <a:tcPr marL="9525" marR="9525" marT="9525" marB="9525" anchor="ctr"/>
                </a:tc>
                <a:tc>
                  <a:txBody>
                    <a:bodyPr/>
                    <a:lstStyle/>
                    <a:p>
                      <a:pPr marL="0" marR="0">
                        <a:lnSpc>
                          <a:spcPct val="115000"/>
                        </a:lnSpc>
                        <a:spcAft>
                          <a:spcPts val="800"/>
                        </a:spcAft>
                        <a:buNone/>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0.53</a:t>
                      </a:r>
                    </a:p>
                  </a:txBody>
                  <a:tcPr marL="9525" marR="9525" marT="9525" marB="9525" anchor="ctr"/>
                </a:tc>
                <a:extLst>
                  <a:ext uri="{0D108BD9-81ED-4DB2-BD59-A6C34878D82A}">
                    <a16:rowId xmlns:a16="http://schemas.microsoft.com/office/drawing/2014/main" val="624519143"/>
                  </a:ext>
                </a:extLst>
              </a:tr>
            </a:tbl>
          </a:graphicData>
        </a:graphic>
      </p:graphicFrame>
    </p:spTree>
    <p:extLst>
      <p:ext uri="{BB962C8B-B14F-4D97-AF65-F5344CB8AC3E}">
        <p14:creationId xmlns:p14="http://schemas.microsoft.com/office/powerpoint/2010/main" val="2551792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64ED9-1D12-3531-14BE-25DB3EC6DBF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BAE265-0B33-CA64-EEEE-46A624B8DDB5}"/>
              </a:ext>
            </a:extLst>
          </p:cNvPr>
          <p:cNvSpPr>
            <a:spLocks noGrp="1"/>
          </p:cNvSpPr>
          <p:nvPr>
            <p:ph type="sldNum" sz="quarter" idx="12"/>
          </p:nvPr>
        </p:nvSpPr>
        <p:spPr/>
        <p:txBody>
          <a:bodyPr/>
          <a:lstStyle/>
          <a:p>
            <a:fld id="{B4A918BC-4D43-4B42-B3C0-E7EBE25E6AF0}" type="slidenum">
              <a:rPr lang="en-US" smtClean="0"/>
              <a:t>13</a:t>
            </a:fld>
            <a:endParaRPr lang="en-US" dirty="0"/>
          </a:p>
        </p:txBody>
      </p:sp>
      <p:sp>
        <p:nvSpPr>
          <p:cNvPr id="4" name="Title 1">
            <a:extLst>
              <a:ext uri="{FF2B5EF4-FFF2-40B4-BE49-F238E27FC236}">
                <a16:creationId xmlns:a16="http://schemas.microsoft.com/office/drawing/2014/main" id="{60EBD4C9-7B1F-AB1F-D487-BA48F964E6A0}"/>
              </a:ext>
            </a:extLst>
          </p:cNvPr>
          <p:cNvSpPr txBox="1">
            <a:spLocks/>
          </p:cNvSpPr>
          <p:nvPr/>
        </p:nvSpPr>
        <p:spPr>
          <a:xfrm>
            <a:off x="1624393" y="-26126"/>
            <a:ext cx="9803971" cy="631149"/>
          </a:xfrm>
          <a:prstGeom prst="rect">
            <a:avLst/>
          </a:prstGeom>
        </p:spPr>
        <p:txBody>
          <a:bodyPr>
            <a:noAutofit/>
          </a:bodyPr>
          <a:lst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a:lstStyle>
          <a:p>
            <a:r>
              <a:rPr lang="en-US" b="1" dirty="0">
                <a:latin typeface="Cambria" panose="02040503050406030204" pitchFamily="18" charset="0"/>
                <a:ea typeface="Cambria" panose="02040503050406030204" pitchFamily="18" charset="0"/>
              </a:rPr>
              <a:t> </a:t>
            </a:r>
            <a:r>
              <a:rPr lang="en-US" sz="4000" b="1" dirty="0">
                <a:latin typeface="Cambria" panose="02040503050406030204" pitchFamily="18" charset="0"/>
                <a:ea typeface="Cambria" panose="02040503050406030204" pitchFamily="18" charset="0"/>
              </a:rPr>
              <a:t>Social Media Performance Analysis</a:t>
            </a:r>
          </a:p>
        </p:txBody>
      </p:sp>
      <p:sp>
        <p:nvSpPr>
          <p:cNvPr id="7" name="TextBox 6">
            <a:extLst>
              <a:ext uri="{FF2B5EF4-FFF2-40B4-BE49-F238E27FC236}">
                <a16:creationId xmlns:a16="http://schemas.microsoft.com/office/drawing/2014/main" id="{B4BE6782-4929-0F32-4B7B-E19B2D0DA6EC}"/>
              </a:ext>
            </a:extLst>
          </p:cNvPr>
          <p:cNvSpPr txBox="1"/>
          <p:nvPr/>
        </p:nvSpPr>
        <p:spPr>
          <a:xfrm>
            <a:off x="1624393" y="5193607"/>
            <a:ext cx="9426057" cy="1815882"/>
          </a:xfrm>
          <a:prstGeom prst="rect">
            <a:avLst/>
          </a:prstGeom>
          <a:noFill/>
        </p:spPr>
        <p:txBody>
          <a:bodyPr wrap="square">
            <a:spAutoFit/>
          </a:bodyPr>
          <a:lstStyle/>
          <a:p>
            <a:r>
              <a:rPr lang="en-US" sz="1600" b="1" dirty="0">
                <a:latin typeface="Cambria" panose="02040503050406030204" pitchFamily="18" charset="0"/>
                <a:ea typeface="Cambria" panose="02040503050406030204" pitchFamily="18" charset="0"/>
              </a:rPr>
              <a:t>Narrative:</a:t>
            </a:r>
          </a:p>
          <a:p>
            <a:r>
              <a:rPr lang="en-US" sz="1600" dirty="0">
                <a:solidFill>
                  <a:srgbClr val="343434"/>
                </a:solidFill>
                <a:latin typeface="TT Hoves"/>
                <a:ea typeface="TT Hoves"/>
                <a:cs typeface="TT Hoves"/>
                <a:sym typeface="TT Hoves"/>
              </a:rPr>
              <a:t>Our social media ecosystem demonstrates balanced growth across platforms, with video content emerging as the most powerful engagement driver. The global audience distribution highlights opportunities for targeted campaigns in North America and Europe, while maintaining a strong presence in emerging markets. By focusing on video-first strategies and leveraging platform diversity, we can continue scaling engagement and reach."</a:t>
            </a:r>
          </a:p>
          <a:p>
            <a:endParaRPr lang="en-US" sz="1600" dirty="0">
              <a:latin typeface="Cambria" panose="02040503050406030204" pitchFamily="18" charset="0"/>
              <a:ea typeface="Cambria" panose="02040503050406030204" pitchFamily="18" charset="0"/>
            </a:endParaRPr>
          </a:p>
        </p:txBody>
      </p:sp>
      <p:pic>
        <p:nvPicPr>
          <p:cNvPr id="10" name="Picture 9">
            <a:extLst>
              <a:ext uri="{FF2B5EF4-FFF2-40B4-BE49-F238E27FC236}">
                <a16:creationId xmlns:a16="http://schemas.microsoft.com/office/drawing/2014/main" id="{BE540093-FE24-BFC9-2ADE-B03BCB67AE08}"/>
              </a:ext>
            </a:extLst>
          </p:cNvPr>
          <p:cNvPicPr>
            <a:picLocks noChangeAspect="1"/>
          </p:cNvPicPr>
          <p:nvPr/>
        </p:nvPicPr>
        <p:blipFill>
          <a:blip r:embed="rId2"/>
          <a:stretch>
            <a:fillRect/>
          </a:stretch>
        </p:blipFill>
        <p:spPr>
          <a:xfrm>
            <a:off x="0" y="757646"/>
            <a:ext cx="12192000" cy="4435961"/>
          </a:xfrm>
          <a:prstGeom prst="rect">
            <a:avLst/>
          </a:prstGeom>
        </p:spPr>
      </p:pic>
    </p:spTree>
    <p:extLst>
      <p:ext uri="{BB962C8B-B14F-4D97-AF65-F5344CB8AC3E}">
        <p14:creationId xmlns:p14="http://schemas.microsoft.com/office/powerpoint/2010/main" val="2951152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ABEB2-E750-4D23-BBFE-7A44B413479C}"/>
              </a:ext>
            </a:extLst>
          </p:cNvPr>
          <p:cNvSpPr>
            <a:spLocks noGrp="1"/>
          </p:cNvSpPr>
          <p:nvPr>
            <p:ph type="title"/>
          </p:nvPr>
        </p:nvSpPr>
        <p:spPr>
          <a:xfrm>
            <a:off x="746961" y="381167"/>
            <a:ext cx="6534150" cy="906463"/>
          </a:xfrm>
        </p:spPr>
        <p:txBody>
          <a:bodyPr/>
          <a:lstStyle/>
          <a:p>
            <a:r>
              <a:rPr lang="en-IN" b="1" dirty="0">
                <a:latin typeface="Cambria" panose="02040503050406030204" pitchFamily="18" charset="0"/>
                <a:ea typeface="Cambria" panose="02040503050406030204" pitchFamily="18" charset="0"/>
              </a:rPr>
              <a:t>Summary</a:t>
            </a:r>
          </a:p>
        </p:txBody>
      </p:sp>
      <p:sp>
        <p:nvSpPr>
          <p:cNvPr id="4" name="Slide Number Placeholder 3">
            <a:extLst>
              <a:ext uri="{FF2B5EF4-FFF2-40B4-BE49-F238E27FC236}">
                <a16:creationId xmlns:a16="http://schemas.microsoft.com/office/drawing/2014/main" id="{14DB20E1-2952-221D-ED7B-4E3489CE0D84}"/>
              </a:ext>
            </a:extLst>
          </p:cNvPr>
          <p:cNvSpPr>
            <a:spLocks noGrp="1"/>
          </p:cNvSpPr>
          <p:nvPr>
            <p:ph type="sldNum" sz="quarter" idx="12"/>
          </p:nvPr>
        </p:nvSpPr>
        <p:spPr/>
        <p:txBody>
          <a:bodyPr/>
          <a:lstStyle/>
          <a:p>
            <a:fld id="{B4A918BC-4D43-4B42-B3C0-E7EBE25E6AF0}" type="slidenum">
              <a:rPr lang="en-US" smtClean="0"/>
              <a:t>14</a:t>
            </a:fld>
            <a:endParaRPr lang="en-US"/>
          </a:p>
        </p:txBody>
      </p:sp>
      <p:sp>
        <p:nvSpPr>
          <p:cNvPr id="6" name="Rectangle 1">
            <a:extLst>
              <a:ext uri="{FF2B5EF4-FFF2-40B4-BE49-F238E27FC236}">
                <a16:creationId xmlns:a16="http://schemas.microsoft.com/office/drawing/2014/main" id="{07D8778D-4687-D134-196E-42808F2BDD71}"/>
              </a:ext>
            </a:extLst>
          </p:cNvPr>
          <p:cNvSpPr>
            <a:spLocks noGrp="1" noChangeArrowheads="1"/>
          </p:cNvSpPr>
          <p:nvPr>
            <p:ph idx="1"/>
          </p:nvPr>
        </p:nvSpPr>
        <p:spPr bwMode="auto">
          <a:xfrm>
            <a:off x="790575" y="1443841"/>
            <a:ext cx="919162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1800" dirty="0">
                <a:latin typeface="Cambria" panose="02040503050406030204" pitchFamily="18" charset="0"/>
                <a:ea typeface="Cambria" panose="02040503050406030204" pitchFamily="18" charset="0"/>
              </a:rPr>
              <a:t>This project demonstrates that video-first strategies and cross-platform growth are key drivers of engagement.</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Cambria" panose="02040503050406030204" pitchFamily="18" charset="0"/>
                <a:ea typeface="Cambria" panose="02040503050406030204" pitchFamily="18" charset="0"/>
              </a:rPr>
              <a:t>Targeting younger demographics (19–25) and focusing on regional hubs like North America and Europe offers strong potential for brands.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Cambria" panose="02040503050406030204" pitchFamily="18" charset="0"/>
                <a:ea typeface="Cambria" panose="02040503050406030204" pitchFamily="18" charset="0"/>
              </a:rPr>
              <a:t>Sponsorships are most effective when aligned with creators producing high-engagement video content.</a:t>
            </a:r>
          </a:p>
          <a:p>
            <a:pPr marL="0" lv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Cambria" panose="02040503050406030204" pitchFamily="18" charset="0"/>
                <a:ea typeface="Cambria" panose="02040503050406030204" pitchFamily="18" charset="0"/>
              </a:rPr>
              <a:t>Overall, the findings provide actionable insights for optimizing content strategy, strengthening audience interaction, and maximizing sponsorship outcomes.</a:t>
            </a:r>
          </a:p>
          <a:p>
            <a:pPr marL="0" lvl="0" indent="0" eaLnBrk="0" fontAlgn="base" hangingPunct="0">
              <a:lnSpc>
                <a:spcPct val="100000"/>
              </a:lnSpc>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lvl="0" indent="0" eaLnBrk="0" fontAlgn="base" hangingPunct="0">
              <a:lnSpc>
                <a:spcPct val="100000"/>
              </a:lnSpc>
              <a:spcBef>
                <a:spcPct val="0"/>
              </a:spcBef>
              <a:spcAft>
                <a:spcPct val="0"/>
              </a:spcAft>
              <a:buFontTx/>
              <a:buChar char="•"/>
            </a:pPr>
            <a:r>
              <a:rPr lang="en-US" altLang="en-US" sz="1800" dirty="0">
                <a:latin typeface="Cambria" panose="02040503050406030204" pitchFamily="18" charset="0"/>
                <a:ea typeface="Cambria" panose="02040503050406030204" pitchFamily="18" charset="0"/>
              </a:rPr>
              <a:t>Regression Models demonstrated that content length positively influences both views and likes, reinforcing the importance of thoughtful content design.</a:t>
            </a: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07327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370C9-393B-D15C-61B4-A52AC0F2FC0B}"/>
              </a:ext>
            </a:extLst>
          </p:cNvPr>
          <p:cNvSpPr>
            <a:spLocks noGrp="1"/>
          </p:cNvSpPr>
          <p:nvPr>
            <p:ph type="title"/>
          </p:nvPr>
        </p:nvSpPr>
        <p:spPr>
          <a:xfrm>
            <a:off x="702732" y="3149898"/>
            <a:ext cx="10380573" cy="1432273"/>
          </a:xfrm>
        </p:spPr>
        <p:txBody>
          <a:bodyPr>
            <a:normAutofit/>
          </a:bodyPr>
          <a:lstStyle/>
          <a:p>
            <a:pPr algn="ctr"/>
            <a:r>
              <a:rPr lang="en-US" sz="4800" b="1" dirty="0">
                <a:latin typeface="Adobe Devanagari" panose="02040503050201020203" pitchFamily="18" charset="0"/>
                <a:cs typeface="Adobe Devanagari" panose="02040503050201020203" pitchFamily="18" charset="0"/>
              </a:rPr>
              <a:t>THANK YOU</a:t>
            </a:r>
          </a:p>
        </p:txBody>
      </p:sp>
      <p:sp>
        <p:nvSpPr>
          <p:cNvPr id="3" name="Slide Number Placeholder 2">
            <a:extLst>
              <a:ext uri="{FF2B5EF4-FFF2-40B4-BE49-F238E27FC236}">
                <a16:creationId xmlns:a16="http://schemas.microsoft.com/office/drawing/2014/main" id="{1ED57806-8FE3-4CB1-E138-F113197298E9}"/>
              </a:ext>
            </a:extLst>
          </p:cNvPr>
          <p:cNvSpPr>
            <a:spLocks noGrp="1"/>
          </p:cNvSpPr>
          <p:nvPr>
            <p:ph type="sldNum" sz="quarter" idx="12"/>
          </p:nvPr>
        </p:nvSpPr>
        <p:spPr/>
        <p:txBody>
          <a:bodyPr/>
          <a:lstStyle/>
          <a:p>
            <a:fld id="{B4A918BC-4D43-4B42-B3C0-E7EBE25E6AF0}" type="slidenum">
              <a:rPr lang="en-US" smtClean="0"/>
              <a:t>15</a:t>
            </a:fld>
            <a:endParaRPr lang="en-US"/>
          </a:p>
        </p:txBody>
      </p:sp>
    </p:spTree>
    <p:extLst>
      <p:ext uri="{BB962C8B-B14F-4D97-AF65-F5344CB8AC3E}">
        <p14:creationId xmlns:p14="http://schemas.microsoft.com/office/powerpoint/2010/main" val="1522597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80C9320661FCB478F077E19A50F7652" ma:contentTypeVersion="18" ma:contentTypeDescription="Create a new document." ma:contentTypeScope="" ma:versionID="23f2b92cf8744961e156a8b9cab9333d">
  <xsd:schema xmlns:xsd="http://www.w3.org/2001/XMLSchema" xmlns:xs="http://www.w3.org/2001/XMLSchema" xmlns:p="http://schemas.microsoft.com/office/2006/metadata/properties" xmlns:ns2="0f01b7b4-d4b6-47da-93c5-cffa90a406b9" xmlns:ns3="b18f8198-02fb-408b-a649-baf04150ea28" targetNamespace="http://schemas.microsoft.com/office/2006/metadata/properties" ma:root="true" ma:fieldsID="b355b19cce41901965c03888d21eb9ec" ns2:_="" ns3:_="">
    <xsd:import namespace="0f01b7b4-d4b6-47da-93c5-cffa90a406b9"/>
    <xsd:import namespace="b18f8198-02fb-408b-a649-baf04150ea2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LengthInSeconds" minOccurs="0"/>
                <xsd:element ref="ns3:MediaServiceDateTaken" minOccurs="0"/>
                <xsd:element ref="ns3:MediaServiceGenerationTime" minOccurs="0"/>
                <xsd:element ref="ns3:MediaServiceEventHashCode" minOccurs="0"/>
                <xsd:element ref="ns3:MediaServiceOCR" minOccurs="0"/>
                <xsd:element ref="ns3:lcf76f155ced4ddcb4097134ff3c332f" minOccurs="0"/>
                <xsd:element ref="ns2:TaxCatchAll" minOccurs="0"/>
                <xsd:element ref="ns3:MediaServiceSearchPropertie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01b7b4-d4b6-47da-93c5-cffa90a406b9"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49927f78-51af-4269-a9ee-61034ef6eb35}" ma:internalName="TaxCatchAll" ma:showField="CatchAllData" ma:web="0f01b7b4-d4b6-47da-93c5-cffa90a406b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18f8198-02fb-408b-a649-baf04150ea2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LengthInSeconds" ma:index="14" nillable="true" ma:displayName="Length (seconds)" ma:internalName="MediaLengthInSeconds" ma:readOnly="true">
      <xsd:simpleType>
        <xsd:restriction base="dms:Unknow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2645f41-64df-47aa-89c1-bfa24a5dcf1b"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18f8198-02fb-408b-a649-baf04150ea28">
      <Terms xmlns="http://schemas.microsoft.com/office/infopath/2007/PartnerControls"/>
    </lcf76f155ced4ddcb4097134ff3c332f>
    <TaxCatchAll xmlns="0f01b7b4-d4b6-47da-93c5-cffa90a406b9" xsi:nil="true"/>
  </documentManagement>
</p:properties>
</file>

<file path=customXml/itemProps1.xml><?xml version="1.0" encoding="utf-8"?>
<ds:datastoreItem xmlns:ds="http://schemas.openxmlformats.org/officeDocument/2006/customXml" ds:itemID="{75E1E72E-E9DB-4CB0-97B8-EEB606A0C60E}">
  <ds:schemaRefs>
    <ds:schemaRef ds:uri="http://schemas.microsoft.com/sharepoint/v3/contenttype/forms"/>
  </ds:schemaRefs>
</ds:datastoreItem>
</file>

<file path=customXml/itemProps2.xml><?xml version="1.0" encoding="utf-8"?>
<ds:datastoreItem xmlns:ds="http://schemas.openxmlformats.org/officeDocument/2006/customXml" ds:itemID="{887F6AB4-E59B-419A-B520-54576E6AF3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01b7b4-d4b6-47da-93c5-cffa90a406b9"/>
    <ds:schemaRef ds:uri="b18f8198-02fb-408b-a649-baf04150ea2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546D38-47C6-48FC-BD7A-5E565A108033}">
  <ds:schemaRefs>
    <ds:schemaRef ds:uri="http://schemas.microsoft.com/office/2006/metadata/properties"/>
    <ds:schemaRef ds:uri="http://schemas.microsoft.com/office/infopath/2007/PartnerControls"/>
    <ds:schemaRef ds:uri="b18f8198-02fb-408b-a649-baf04150ea28"/>
    <ds:schemaRef ds:uri="0f01b7b4-d4b6-47da-93c5-cffa90a406b9"/>
  </ds:schemaRefs>
</ds:datastoreItem>
</file>

<file path=docProps/app.xml><?xml version="1.0" encoding="utf-8"?>
<Properties xmlns="http://schemas.openxmlformats.org/officeDocument/2006/extended-properties" xmlns:vt="http://schemas.openxmlformats.org/officeDocument/2006/docPropsVTypes">
  <Template/>
  <TotalTime>25216</TotalTime>
  <Words>1350</Words>
  <Application>Microsoft Office PowerPoint</Application>
  <PresentationFormat>Widescreen</PresentationFormat>
  <Paragraphs>137</Paragraphs>
  <Slides>15</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Adobe Devanagari</vt:lpstr>
      <vt:lpstr>Aptos</vt:lpstr>
      <vt:lpstr>Aptos Display</vt:lpstr>
      <vt:lpstr>Arial</vt:lpstr>
      <vt:lpstr>Calibri</vt:lpstr>
      <vt:lpstr>Cambria</vt:lpstr>
      <vt:lpstr>Symbol</vt:lpstr>
      <vt:lpstr>TT Hoves</vt:lpstr>
      <vt:lpstr>Wingdings</vt:lpstr>
      <vt:lpstr>Office Theme</vt:lpstr>
      <vt:lpstr>Capstone Project:  Analyze social media Engagement to uncover Business performance insights (Social-Tech)</vt:lpstr>
      <vt:lpstr>Business Objective:</vt:lpstr>
      <vt:lpstr>Technology Stack</vt:lpstr>
      <vt:lpstr>Data Description</vt:lpstr>
      <vt:lpstr>Data Cleaning &amp; Handling missing values</vt:lpstr>
      <vt:lpstr>PowerPoint Presentation</vt:lpstr>
      <vt:lpstr>Platform Analysis </vt:lpstr>
      <vt:lpstr>PowerPoint Presentation</vt:lpstr>
      <vt:lpstr>PowerPoint Presentation</vt:lpstr>
      <vt:lpstr>Hypotheses</vt:lpstr>
      <vt:lpstr>PowerPoint Presentation</vt:lpstr>
      <vt:lpstr>Meachine learning Model’s Insights</vt:lpstr>
      <vt:lpstr>PowerPoint Presentation</vt:lpstr>
      <vt:lpstr>Summary</vt:lpstr>
      <vt:lpstr>THANK YOU</vt:lpstr>
    </vt:vector>
  </TitlesOfParts>
  <Company>Ingersoll Rand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Analysis of TMDB Dataset</dc:title>
  <dc:creator>P S, Dhanush</dc:creator>
  <cp:lastModifiedBy>kapil DEV</cp:lastModifiedBy>
  <cp:revision>28</cp:revision>
  <dcterms:created xsi:type="dcterms:W3CDTF">2024-04-14T17:53:45Z</dcterms:created>
  <dcterms:modified xsi:type="dcterms:W3CDTF">2026-05-21T07:32:14Z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0x010100D80C9320661FCB478F077E19A50F7652</vt:lpwstr>
  </property>
  <property fmtid="{D5CDD505-2E9C-101B-9397-08002B2CF9AE}" pid="3" name="MediaServiceImageTags">
    <vt:lpwstr/>
  </property>
</Properties>
</file>